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6" r:id="rId3"/>
    <p:sldId id="267" r:id="rId4"/>
    <p:sldId id="258" r:id="rId5"/>
    <p:sldId id="260" r:id="rId6"/>
    <p:sldId id="261" r:id="rId7"/>
    <p:sldId id="263" r:id="rId8"/>
    <p:sldId id="269" r:id="rId9"/>
    <p:sldId id="268" r:id="rId10"/>
  </p:sldIdLst>
  <p:sldSz cx="14630400" cy="8229600"/>
  <p:notesSz cx="8229600" cy="14630400"/>
  <p:embeddedFontLst>
    <p:embeddedFont>
      <p:font typeface="Platypi Medium" pitchFamily="2" charset="77"/>
      <p:regular r:id="rId12"/>
    </p:embeddedFont>
    <p:embeddedFont>
      <p:font typeface="Source Serif 4" panose="02040503040405020204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eyhunugur/Desktop/jb_shar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eyhunugur/Desktop/jb_shar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eyhunugur/Desktop/jb_shar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eyhunugur/Desktop/tx_count_compar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Market</a:t>
            </a:r>
            <a:r>
              <a:rPr lang="en-US" baseline="0"/>
              <a:t> Correlation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 1 - jb_share'!$B$1</c:f>
              <c:strCache>
                <c:ptCount val="1"/>
                <c:pt idx="0">
                  <c:v>jim_beam_total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'Sheet 1 - jb_share'!$A$2:$A$15</c:f>
              <c:strCache>
                <c:ptCount val="14"/>
                <c:pt idx="0">
                  <c:v>2014-01-01 00:00:00</c:v>
                </c:pt>
                <c:pt idx="1">
                  <c:v>2014-02-01 00:00:00</c:v>
                </c:pt>
                <c:pt idx="2">
                  <c:v>2014-03-01 00:00:00</c:v>
                </c:pt>
                <c:pt idx="3">
                  <c:v>2014-04-01 00:00:00</c:v>
                </c:pt>
                <c:pt idx="4">
                  <c:v>2014-05-01 00:00:00</c:v>
                </c:pt>
                <c:pt idx="5">
                  <c:v>2014-06-01 00:00:00</c:v>
                </c:pt>
                <c:pt idx="6">
                  <c:v>2014-07-01 00:00:00</c:v>
                </c:pt>
                <c:pt idx="7">
                  <c:v>2014-08-01 00:00:00</c:v>
                </c:pt>
                <c:pt idx="8">
                  <c:v>2014-09-01 00:00:00</c:v>
                </c:pt>
                <c:pt idx="9">
                  <c:v>2014-10-01 00:00:00</c:v>
                </c:pt>
                <c:pt idx="10">
                  <c:v>2014-11-01 00:00:00</c:v>
                </c:pt>
                <c:pt idx="11">
                  <c:v>2014-12-01 00:00:00</c:v>
                </c:pt>
                <c:pt idx="12">
                  <c:v>2015-01-01 00:00:00</c:v>
                </c:pt>
                <c:pt idx="13">
                  <c:v>2015-02-01 00:00:00</c:v>
                </c:pt>
              </c:strCache>
            </c:strRef>
          </c:cat>
          <c:val>
            <c:numRef>
              <c:f>'Sheet 1 - jb_share'!$B$2:$B$15</c:f>
              <c:numCache>
                <c:formatCode>"$"#,##0.00</c:formatCode>
                <c:ptCount val="14"/>
                <c:pt idx="0">
                  <c:v>469111.03999999998</c:v>
                </c:pt>
                <c:pt idx="1">
                  <c:v>495871.24</c:v>
                </c:pt>
                <c:pt idx="2">
                  <c:v>612783.5</c:v>
                </c:pt>
                <c:pt idx="3">
                  <c:v>604765.57999999996</c:v>
                </c:pt>
                <c:pt idx="4">
                  <c:v>590607.62</c:v>
                </c:pt>
                <c:pt idx="5">
                  <c:v>507609.4</c:v>
                </c:pt>
                <c:pt idx="6">
                  <c:v>188995.5</c:v>
                </c:pt>
                <c:pt idx="7">
                  <c:v>220021.69</c:v>
                </c:pt>
                <c:pt idx="8">
                  <c:v>269667.93</c:v>
                </c:pt>
                <c:pt idx="9">
                  <c:v>287136.25</c:v>
                </c:pt>
                <c:pt idx="10">
                  <c:v>324665.5</c:v>
                </c:pt>
                <c:pt idx="11">
                  <c:v>125614.48</c:v>
                </c:pt>
                <c:pt idx="12">
                  <c:v>199740.87</c:v>
                </c:pt>
                <c:pt idx="13">
                  <c:v>265779.21999999997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3-9747-BB2E-09142211A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5319360"/>
        <c:axId val="560317760"/>
      </c:barChart>
      <c:lineChart>
        <c:grouping val="standard"/>
        <c:varyColors val="0"/>
        <c:ser>
          <c:idx val="1"/>
          <c:order val="1"/>
          <c:tx>
            <c:strRef>
              <c:f>'Sheet 1 - jb_share'!$C$1</c:f>
              <c:strCache>
                <c:ptCount val="1"/>
                <c:pt idx="0">
                  <c:v>overall_total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'Sheet 1 - jb_share'!$A$2:$A$15</c:f>
              <c:strCache>
                <c:ptCount val="14"/>
                <c:pt idx="0">
                  <c:v>2014-01-01 00:00:00</c:v>
                </c:pt>
                <c:pt idx="1">
                  <c:v>2014-02-01 00:00:00</c:v>
                </c:pt>
                <c:pt idx="2">
                  <c:v>2014-03-01 00:00:00</c:v>
                </c:pt>
                <c:pt idx="3">
                  <c:v>2014-04-01 00:00:00</c:v>
                </c:pt>
                <c:pt idx="4">
                  <c:v>2014-05-01 00:00:00</c:v>
                </c:pt>
                <c:pt idx="5">
                  <c:v>2014-06-01 00:00:00</c:v>
                </c:pt>
                <c:pt idx="6">
                  <c:v>2014-07-01 00:00:00</c:v>
                </c:pt>
                <c:pt idx="7">
                  <c:v>2014-08-01 00:00:00</c:v>
                </c:pt>
                <c:pt idx="8">
                  <c:v>2014-09-01 00:00:00</c:v>
                </c:pt>
                <c:pt idx="9">
                  <c:v>2014-10-01 00:00:00</c:v>
                </c:pt>
                <c:pt idx="10">
                  <c:v>2014-11-01 00:00:00</c:v>
                </c:pt>
                <c:pt idx="11">
                  <c:v>2014-12-01 00:00:00</c:v>
                </c:pt>
                <c:pt idx="12">
                  <c:v>2015-01-01 00:00:00</c:v>
                </c:pt>
                <c:pt idx="13">
                  <c:v>2015-02-01 00:00:00</c:v>
                </c:pt>
              </c:strCache>
            </c:strRef>
          </c:cat>
          <c:val>
            <c:numRef>
              <c:f>'Sheet 1 - jb_share'!$C$2:$C$15</c:f>
              <c:numCache>
                <c:formatCode>"$"#,##0.00</c:formatCode>
                <c:ptCount val="14"/>
                <c:pt idx="0">
                  <c:v>6218000.7999999998</c:v>
                </c:pt>
                <c:pt idx="1">
                  <c:v>6230610.7800000003</c:v>
                </c:pt>
                <c:pt idx="2">
                  <c:v>6884136.7800000003</c:v>
                </c:pt>
                <c:pt idx="3">
                  <c:v>6861110.9199999999</c:v>
                </c:pt>
                <c:pt idx="4">
                  <c:v>6745317.0599999996</c:v>
                </c:pt>
                <c:pt idx="5">
                  <c:v>4401057.26</c:v>
                </c:pt>
                <c:pt idx="6">
                  <c:v>3259383.85</c:v>
                </c:pt>
                <c:pt idx="7">
                  <c:v>3382431.03</c:v>
                </c:pt>
                <c:pt idx="8">
                  <c:v>3457594.59</c:v>
                </c:pt>
                <c:pt idx="9">
                  <c:v>3907435.09</c:v>
                </c:pt>
                <c:pt idx="10">
                  <c:v>3222754.07</c:v>
                </c:pt>
                <c:pt idx="11">
                  <c:v>1713612.09</c:v>
                </c:pt>
                <c:pt idx="12">
                  <c:v>2690868.38</c:v>
                </c:pt>
                <c:pt idx="13">
                  <c:v>3252271.56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D3-9747-BB2E-09142211A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9264768"/>
        <c:axId val="627474880"/>
      </c:lineChart>
      <c:catAx>
        <c:axId val="59531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317760"/>
        <c:crosses val="autoZero"/>
        <c:auto val="1"/>
        <c:lblAlgn val="ctr"/>
        <c:lblOffset val="100"/>
        <c:noMultiLvlLbl val="0"/>
      </c:catAx>
      <c:valAx>
        <c:axId val="56031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5319360"/>
        <c:crosses val="autoZero"/>
        <c:crossBetween val="between"/>
      </c:valAx>
      <c:valAx>
        <c:axId val="627474880"/>
        <c:scaling>
          <c:orientation val="minMax"/>
        </c:scaling>
        <c:delete val="0"/>
        <c:axPos val="r"/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9264768"/>
        <c:crosses val="max"/>
        <c:crossBetween val="between"/>
      </c:valAx>
      <c:catAx>
        <c:axId val="629264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74748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'Sheet 1 - jb_share'!$D$1</c:f>
              <c:strCache>
                <c:ptCount val="1"/>
                <c:pt idx="0">
                  <c:v>jim_beam_share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'Sheet 1 - jb_share'!$D$2:$D$15</c:f>
              <c:numCache>
                <c:formatCode>General</c:formatCode>
                <c:ptCount val="14"/>
                <c:pt idx="0">
                  <c:v>0.08</c:v>
                </c:pt>
                <c:pt idx="1">
                  <c:v>0.08</c:v>
                </c:pt>
                <c:pt idx="2">
                  <c:v>0.09</c:v>
                </c:pt>
                <c:pt idx="3">
                  <c:v>0.09</c:v>
                </c:pt>
                <c:pt idx="4">
                  <c:v>0.09</c:v>
                </c:pt>
                <c:pt idx="5">
                  <c:v>0.12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7.0000000000000007E-2</c:v>
                </c:pt>
                <c:pt idx="10">
                  <c:v>0.1</c:v>
                </c:pt>
                <c:pt idx="11">
                  <c:v>7.0000000000000007E-2</c:v>
                </c:pt>
                <c:pt idx="12">
                  <c:v>7.0000000000000007E-2</c:v>
                </c:pt>
                <c:pt idx="13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A7-7D4A-A954-14E4771485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7740160"/>
        <c:axId val="627741056"/>
      </c:lineChart>
      <c:catAx>
        <c:axId val="6277401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7741056"/>
        <c:crosses val="autoZero"/>
        <c:auto val="1"/>
        <c:lblAlgn val="ctr"/>
        <c:lblOffset val="100"/>
        <c:noMultiLvlLbl val="0"/>
      </c:catAx>
      <c:valAx>
        <c:axId val="627741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7740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 1 - jb_share'!$B$1</c:f>
              <c:strCache>
                <c:ptCount val="1"/>
                <c:pt idx="0">
                  <c:v>jim_beam_total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'Sheet 1 - jb_share'!$B$2:$B$15</c:f>
              <c:numCache>
                <c:formatCode>"$"#,##0.00</c:formatCode>
                <c:ptCount val="14"/>
                <c:pt idx="0">
                  <c:v>469111.03999999998</c:v>
                </c:pt>
                <c:pt idx="1">
                  <c:v>495871.24</c:v>
                </c:pt>
                <c:pt idx="2">
                  <c:v>612783.5</c:v>
                </c:pt>
                <c:pt idx="3">
                  <c:v>604765.57999999996</c:v>
                </c:pt>
                <c:pt idx="4">
                  <c:v>590607.62</c:v>
                </c:pt>
                <c:pt idx="5">
                  <c:v>507609.4</c:v>
                </c:pt>
                <c:pt idx="6">
                  <c:v>188995.5</c:v>
                </c:pt>
                <c:pt idx="7">
                  <c:v>220021.69</c:v>
                </c:pt>
                <c:pt idx="8">
                  <c:v>269667.93</c:v>
                </c:pt>
                <c:pt idx="9">
                  <c:v>287136.25</c:v>
                </c:pt>
                <c:pt idx="10">
                  <c:v>324665.5</c:v>
                </c:pt>
                <c:pt idx="11">
                  <c:v>125614.48</c:v>
                </c:pt>
                <c:pt idx="12">
                  <c:v>199740.87</c:v>
                </c:pt>
                <c:pt idx="13">
                  <c:v>265779.21999999997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92-B44B-8D18-CAAEBC488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0171264"/>
        <c:axId val="630173056"/>
      </c:barChart>
      <c:catAx>
        <c:axId val="6301712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173056"/>
        <c:crosses val="autoZero"/>
        <c:auto val="1"/>
        <c:lblAlgn val="ctr"/>
        <c:lblOffset val="100"/>
        <c:noMultiLvlLbl val="0"/>
      </c:catAx>
      <c:valAx>
        <c:axId val="63017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171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Seasonal Volume Collapse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 1 - tx_count_compare'!$B$1</c:f>
              <c:strCache>
                <c:ptCount val="1"/>
                <c:pt idx="0">
                  <c:v>jim_beam_tx_count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'Sheet 1 - tx_count_compare'!$B$2:$B$15</c:f>
              <c:numCache>
                <c:formatCode>General</c:formatCode>
                <c:ptCount val="14"/>
                <c:pt idx="0">
                  <c:v>1922</c:v>
                </c:pt>
                <c:pt idx="1">
                  <c:v>1944</c:v>
                </c:pt>
                <c:pt idx="2">
                  <c:v>2312</c:v>
                </c:pt>
                <c:pt idx="3">
                  <c:v>2048</c:v>
                </c:pt>
                <c:pt idx="4">
                  <c:v>1968</c:v>
                </c:pt>
                <c:pt idx="5">
                  <c:v>1031</c:v>
                </c:pt>
                <c:pt idx="6">
                  <c:v>911</c:v>
                </c:pt>
                <c:pt idx="7">
                  <c:v>900</c:v>
                </c:pt>
                <c:pt idx="8">
                  <c:v>933</c:v>
                </c:pt>
                <c:pt idx="9">
                  <c:v>1178</c:v>
                </c:pt>
                <c:pt idx="10">
                  <c:v>859</c:v>
                </c:pt>
                <c:pt idx="11">
                  <c:v>375</c:v>
                </c:pt>
                <c:pt idx="12">
                  <c:v>808</c:v>
                </c:pt>
                <c:pt idx="13">
                  <c:v>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6C-F545-B56C-2A806DC15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29033152"/>
        <c:axId val="629042112"/>
      </c:barChart>
      <c:lineChart>
        <c:grouping val="standard"/>
        <c:varyColors val="0"/>
        <c:ser>
          <c:idx val="1"/>
          <c:order val="1"/>
          <c:tx>
            <c:strRef>
              <c:f>'Sheet 1 - tx_count_compare'!$D$1</c:f>
              <c:strCache>
                <c:ptCount val="1"/>
                <c:pt idx="0">
                  <c:v>jim_beam_total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'Sheet 1 - tx_count_compare'!$D$2:$D$15</c:f>
              <c:numCache>
                <c:formatCode>"$"#,##0.00</c:formatCode>
                <c:ptCount val="14"/>
                <c:pt idx="0">
                  <c:v>469111.03999999998</c:v>
                </c:pt>
                <c:pt idx="1">
                  <c:v>495871.24</c:v>
                </c:pt>
                <c:pt idx="2">
                  <c:v>612783.5</c:v>
                </c:pt>
                <c:pt idx="3">
                  <c:v>604765.57999999996</c:v>
                </c:pt>
                <c:pt idx="4">
                  <c:v>590607.62</c:v>
                </c:pt>
                <c:pt idx="5">
                  <c:v>507609.4</c:v>
                </c:pt>
                <c:pt idx="6">
                  <c:v>188995.5</c:v>
                </c:pt>
                <c:pt idx="7">
                  <c:v>220021.69</c:v>
                </c:pt>
                <c:pt idx="8">
                  <c:v>269667.93</c:v>
                </c:pt>
                <c:pt idx="9">
                  <c:v>287136.25</c:v>
                </c:pt>
                <c:pt idx="10">
                  <c:v>324665.5</c:v>
                </c:pt>
                <c:pt idx="11">
                  <c:v>125614.48</c:v>
                </c:pt>
                <c:pt idx="12">
                  <c:v>199740.87</c:v>
                </c:pt>
                <c:pt idx="13">
                  <c:v>265779.21999999997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6C-F545-B56C-2A806DC15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0259008"/>
        <c:axId val="629045696"/>
      </c:lineChart>
      <c:catAx>
        <c:axId val="6290331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9042112"/>
        <c:crosses val="autoZero"/>
        <c:auto val="1"/>
        <c:lblAlgn val="ctr"/>
        <c:lblOffset val="100"/>
        <c:noMultiLvlLbl val="0"/>
      </c:catAx>
      <c:valAx>
        <c:axId val="629042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9033152"/>
        <c:crosses val="autoZero"/>
        <c:crossBetween val="between"/>
      </c:valAx>
      <c:valAx>
        <c:axId val="629045696"/>
        <c:scaling>
          <c:orientation val="minMax"/>
        </c:scaling>
        <c:delete val="0"/>
        <c:axPos val="r"/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259008"/>
        <c:crosses val="max"/>
        <c:crossBetween val="between"/>
      </c:valAx>
      <c:catAx>
        <c:axId val="630259008"/>
        <c:scaling>
          <c:orientation val="minMax"/>
        </c:scaling>
        <c:delete val="1"/>
        <c:axPos val="b"/>
        <c:majorTickMark val="none"/>
        <c:minorTickMark val="none"/>
        <c:tickLblPos val="nextTo"/>
        <c:crossAx val="6290456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4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65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Jim Beam Brands: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8425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data-driven SWOT analysis based on Iowa liquor transactional sales data  from market position to strategic recommendations.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286425"/>
            <a:ext cx="2343864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37498" y="4362029"/>
            <a:ext cx="20564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IOWA LIQUOR DATASET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51002" y="4286425"/>
            <a:ext cx="325755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94710" y="4362029"/>
            <a:ext cx="29701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VENDOR PERFORMANCE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8563"/>
            <a:ext cx="105044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Analytical Framework: Key Questions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5097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 are analyzing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Jim Beam Brands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using Iowa state liquor transactional data to test a hypothesis-driven scenario. The goal is to determine whether performance changes are driven by market conditions, competitive position, or customer behavior.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94829"/>
            <a:ext cx="13042821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 What is driving the changes in Jim Beam’s sales performance over time?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 Is the decline in sales caused by overall market trends or internal performance issues?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 How does Jim Beam perform relative to its competitors in top stores?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 Is performance driven more by transaction volume or customer spending behavior?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 Where are the key strengths, weaknesses, and growth opportunities for Jim Beam in this market?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48A37D-58A0-A368-8FC3-D88C32C7E54A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95193"/>
            <a:ext cx="11328916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 Statistics: Where Jim Beam Stands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687235"/>
            <a:ext cx="64958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4th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692241" y="25897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Vendor Rank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6993" y="3013234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 of major Iowa liquor vendors — behind Diageo, Sazerac, and Pernod Ricard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27595" y="1687235"/>
            <a:ext cx="64958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$5.1M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412843" y="25897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Revenue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427595" y="3013234"/>
            <a:ext cx="649581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Significant gap to leader Diageo Americas at $14.4M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6993" y="4085034"/>
            <a:ext cx="64958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~8%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692241" y="49875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Avg. Market Share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6993" y="5411033"/>
            <a:ext cx="649581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Typical range of 7–9%, with peaks near 12% and lows near 6%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27595" y="4085034"/>
            <a:ext cx="64958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~50%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9412843" y="49875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Summer Drop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427595" y="5411033"/>
            <a:ext cx="649581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Transaction volume decline during June–July seasonal trough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D2F933-3DFB-271F-3FD6-3D0131ABF18E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270635"/>
            <a:ext cx="1045488" cy="176689"/>
          </a:xfrm>
          <a:prstGeom prst="roundRect">
            <a:avLst>
              <a:gd name="adj" fmla="val 770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0434" y="1304568"/>
            <a:ext cx="909518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SWOT — STRENGTHS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1469946"/>
            <a:ext cx="4312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Strength: </a:t>
            </a: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Market Correlation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8" y="1909286"/>
            <a:ext cx="8008233" cy="107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Jim Beam's revenue closely tracks overall market demand</a:t>
            </a:r>
            <a:endParaRPr lang="en-US" sz="12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When the category grows, Jim Beam benefits proportionally</a:t>
            </a:r>
            <a:endParaRPr lang="en-US" sz="12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Strong correlation indicates brand is a go-to choice during peak demand periods</a:t>
            </a:r>
            <a:endParaRPr lang="en-US" sz="12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 alignment provides predictable revenue during favorable conditions</a:t>
            </a:r>
            <a:endParaRPr lang="en-US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E59680D-6A6D-3548-3BC0-AD0631D075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7581391"/>
              </p:ext>
            </p:extLst>
          </p:nvPr>
        </p:nvGraphicFramePr>
        <p:xfrm>
          <a:off x="3402449" y="2981158"/>
          <a:ext cx="6775450" cy="467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39254F8-DEC9-883A-BB20-0DADBC603968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270635"/>
            <a:ext cx="1112639" cy="176689"/>
          </a:xfrm>
          <a:prstGeom prst="roundRect">
            <a:avLst>
              <a:gd name="adj" fmla="val 770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0434" y="1304568"/>
            <a:ext cx="976670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SWOT — WEAKNESSES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1469946"/>
            <a:ext cx="50141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Weakness: Unstable Market Share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9" y="1909286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Jim Beam's market share fluctuates between 6% and 12% — a 100% swing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Peak share of ~12% occurs March–May; lows near 6% in other periods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Inconsistent performance indicates reactive positioning, not stable brand loyalty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Volatility suggests vulnerability to competitive pressure and market shifts</a:t>
            </a:r>
            <a:endParaRPr lang="en-US" sz="85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7CD7A27-91C8-D12F-7FFB-BB40D56C84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734059"/>
              </p:ext>
            </p:extLst>
          </p:nvPr>
        </p:nvGraphicFramePr>
        <p:xfrm>
          <a:off x="3470434" y="3160294"/>
          <a:ext cx="5962324" cy="3272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8FCE1B5-B85B-609C-838F-03CC49A1F29D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034653"/>
            <a:ext cx="1235750" cy="176689"/>
          </a:xfrm>
          <a:prstGeom prst="roundRect">
            <a:avLst>
              <a:gd name="adj" fmla="val 770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0434" y="1068586"/>
            <a:ext cx="1099780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SWOT — OPPORTUNITIES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1233964"/>
            <a:ext cx="5387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Opportunity: Peak Season Expansion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9" y="1673304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March–May represents Jim Beam's strongest period, reaching ~12% market share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Peak season demonstrates proven consumer demand and brand pull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Targeted promotions and inventory optimization can extend peak window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Strategic marketing during high-demand periods can deepen market penetration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402449" y="6786562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The column chart illustrates Jim Beam's revenue index across months, clearly showing a strong performance during the March-May peak season. This period demonstrates elevated consumer demand, providing a strategic opportunity for enhanced marketing efforts and extended promotional activities.     </a:t>
            </a:r>
            <a:endParaRPr lang="en-US" sz="85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40335CE-72AA-6A22-0D20-06810EE50D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430229"/>
              </p:ext>
            </p:extLst>
          </p:nvPr>
        </p:nvGraphicFramePr>
        <p:xfrm>
          <a:off x="3402448" y="2743199"/>
          <a:ext cx="5677383" cy="3354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25DC104-D68B-8451-56D5-4F4578383781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270635"/>
            <a:ext cx="922496" cy="176689"/>
          </a:xfrm>
          <a:prstGeom prst="roundRect">
            <a:avLst>
              <a:gd name="adj" fmla="val 770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0434" y="1304568"/>
            <a:ext cx="786527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SWOT — THREATS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1469946"/>
            <a:ext cx="4897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Threat: Seasonal Volume Collapse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9" y="1909286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Transaction volume drops ~50% during June–July — a recurring seasonal trough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December shows severe anomaly requiring investigation (operational or data issue)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Seasonal collapse directly erodes annual revenue and profitability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Structural vulnerability suggests need for counter-seasonal strategies</a:t>
            </a:r>
            <a:endParaRPr lang="en-US" sz="85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4F9A31D-3D0E-32A8-E2CD-73D10D142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1313530"/>
              </p:ext>
            </p:extLst>
          </p:nvPr>
        </p:nvGraphicFramePr>
        <p:xfrm>
          <a:off x="3280609" y="3368841"/>
          <a:ext cx="5767137" cy="3144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FD41AB90-AA52-4C93-1C22-1AEEF7C8EADA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33745"/>
            <a:ext cx="389858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SWOT Summary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23" y="1202293"/>
            <a:ext cx="5189815" cy="518981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23" y="1202293"/>
            <a:ext cx="5189815" cy="51898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2844" y="2920603"/>
            <a:ext cx="2136577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From Data to Strategy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512844" y="3271361"/>
            <a:ext cx="5189815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Jim Beam is a </a:t>
            </a:r>
            <a:r>
              <a:rPr lang="en-US" sz="1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solid but vulnerable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player — strong brand recognition offset by volume instability and market dependency.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512844" y="3788807"/>
            <a:ext cx="5189815" cy="954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Leverage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peak season strength to build momentum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Stabilize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transaction volume year-round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reliance on overall market demand</a:t>
            </a:r>
            <a:endParaRPr lang="en-US" sz="12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2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Investigate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December anomaly and summer drop causes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5006CB-CAD9-0EEB-A1F4-3EF257088299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17696"/>
            <a:ext cx="10819090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Recommendations: Three Priority Actions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1656636"/>
            <a:ext cx="4388882" cy="836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0832" y="2685812"/>
            <a:ext cx="367772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Stabilize Volume Year-Round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40832" y="3128010"/>
            <a:ext cx="3970734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Launch summer promotions and investigate the December drop. Diversify channels to reduce seasonal dependency.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56636"/>
            <a:ext cx="4389001" cy="8364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29714" y="2685812"/>
            <a:ext cx="284654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Lift Transaction Value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329714" y="3128010"/>
            <a:ext cx="3970853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Introduce premium bundles and curated gift sets to increase average spend per order,  independent of volume.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641" y="1656636"/>
            <a:ext cx="4389001" cy="8364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8715" y="2685812"/>
            <a:ext cx="348007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Build Brand Differentiation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718715" y="3128010"/>
            <a:ext cx="3970853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 market correlation through loyalty programs, exclusive SKUs, and targeted retail partnerships.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0BD30B-BB7E-AD57-B6FA-EFB9CC24650A}"/>
              </a:ext>
            </a:extLst>
          </p:cNvPr>
          <p:cNvSpPr/>
          <p:nvPr/>
        </p:nvSpPr>
        <p:spPr>
          <a:xfrm>
            <a:off x="12788721" y="7508383"/>
            <a:ext cx="1841679" cy="7212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609</Words>
  <Application>Microsoft Macintosh PowerPoint</Application>
  <PresentationFormat>Custom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Source Serif 4</vt:lpstr>
      <vt:lpstr>Platypi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ceyhun ugur</cp:lastModifiedBy>
  <cp:revision>5</cp:revision>
  <dcterms:created xsi:type="dcterms:W3CDTF">2026-05-01T12:36:30Z</dcterms:created>
  <dcterms:modified xsi:type="dcterms:W3CDTF">2026-05-01T13:03:43Z</dcterms:modified>
</cp:coreProperties>
</file>