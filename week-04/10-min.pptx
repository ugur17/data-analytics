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1.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66" r:id="rId2"/>
    <p:sldId id="256" r:id="rId3"/>
    <p:sldId id="267" r:id="rId4"/>
    <p:sldId id="257" r:id="rId5"/>
    <p:sldId id="258" r:id="rId6"/>
    <p:sldId id="259" r:id="rId7"/>
    <p:sldId id="260" r:id="rId8"/>
    <p:sldId id="261" r:id="rId9"/>
    <p:sldId id="262" r:id="rId10"/>
    <p:sldId id="263" r:id="rId11"/>
    <p:sldId id="264" r:id="rId12"/>
    <p:sldId id="269" r:id="rId13"/>
    <p:sldId id="268" r:id="rId14"/>
  </p:sldIdLst>
  <p:sldSz cx="14630400" cy="8229600"/>
  <p:notesSz cx="8229600" cy="14630400"/>
  <p:embeddedFontLst>
    <p:embeddedFont>
      <p:font typeface="Platypi Medium" pitchFamily="2" charset="77"/>
      <p:regular r:id="rId16"/>
    </p:embeddedFont>
    <p:embeddedFont>
      <p:font typeface="Source Serif 4" panose="02040503040405020204" pitchFamily="18"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64"/>
    <p:restoredTop sz="94610"/>
  </p:normalViewPr>
  <p:slideViewPr>
    <p:cSldViewPr snapToGrid="0" snapToObjects="1">
      <p:cViewPr varScale="1">
        <p:scale>
          <a:sx n="73" d="100"/>
          <a:sy n="73" d="100"/>
        </p:scale>
        <p:origin x="208" y="10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ceyhunugur/Desktop/jb_ran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ceyhunugur/Desktop/jb_shar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ceyhunugur/Desktop/jb_ran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ceyhunugur/Desktop/jb_share.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ceyhunugur/Desktop/jb_share.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ceyhunugur/Desktop/tx_count_compare.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ceyhunugur/Desktop/tx_count_compare.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Users/ceyhunugur/Desktop/tx_count_compare.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[jb_rank.xlsx]Sheet3!PivotTable3</c:name>
    <c:fmtId val="3"/>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0278208898586475"/>
          <c:y val="6.1538461538461542E-2"/>
          <c:w val="0.46951721235291022"/>
          <c:h val="0.65000563979089387"/>
        </c:manualLayout>
      </c:layout>
      <c:barChart>
        <c:barDir val="col"/>
        <c:grouping val="clustered"/>
        <c:varyColors val="0"/>
        <c:ser>
          <c:idx val="0"/>
          <c:order val="0"/>
          <c:tx>
            <c:strRef>
              <c:f>Sheet3!$B$1</c:f>
              <c:strCache>
                <c:ptCount val="1"/>
                <c:pt idx="0">
                  <c:v>Total</c:v>
                </c:pt>
              </c:strCache>
            </c:strRef>
          </c:tx>
          <c:spPr>
            <a:solidFill>
              <a:schemeClr val="accent1"/>
            </a:solidFill>
            <a:ln>
              <a:noFill/>
            </a:ln>
            <a:effectLst/>
          </c:spPr>
          <c:invertIfNegative val="0"/>
          <c:cat>
            <c:strRef>
              <c:f>Sheet3!$A$2:$A$12</c:f>
              <c:strCache>
                <c:ptCount val="10"/>
                <c:pt idx="0">
                  <c:v>Diageo Americas</c:v>
                </c:pt>
                <c:pt idx="1">
                  <c:v>Sazerac</c:v>
                </c:pt>
                <c:pt idx="2">
                  <c:v>Pernod Ricard USA/Austin Nichols</c:v>
                </c:pt>
                <c:pt idx="3">
                  <c:v>Jim Beam Brands</c:v>
                </c:pt>
                <c:pt idx="4">
                  <c:v>Brown-Forman Corporation</c:v>
                </c:pt>
                <c:pt idx="5">
                  <c:v>Bacardi U.S.A. Inc.</c:v>
                </c:pt>
                <c:pt idx="6">
                  <c:v>Luxco-St Louis</c:v>
                </c:pt>
                <c:pt idx="7">
                  <c:v>Proximo</c:v>
                </c:pt>
                <c:pt idx="8">
                  <c:v>The Patron Spirits Company</c:v>
                </c:pt>
                <c:pt idx="9">
                  <c:v>Sidney Frank Importing Co.</c:v>
                </c:pt>
              </c:strCache>
            </c:strRef>
          </c:cat>
          <c:val>
            <c:numRef>
              <c:f>Sheet3!$B$2:$B$12</c:f>
              <c:numCache>
                <c:formatCode>"$"#,##0.00</c:formatCode>
                <c:ptCount val="10"/>
                <c:pt idx="0">
                  <c:v>14413582.25</c:v>
                </c:pt>
                <c:pt idx="1">
                  <c:v>7149135.6299999999</c:v>
                </c:pt>
                <c:pt idx="2">
                  <c:v>6055053.0599999996</c:v>
                </c:pt>
                <c:pt idx="3">
                  <c:v>5162369.82</c:v>
                </c:pt>
                <c:pt idx="4">
                  <c:v>4537546.78</c:v>
                </c:pt>
                <c:pt idx="5">
                  <c:v>3827018.39</c:v>
                </c:pt>
                <c:pt idx="6">
                  <c:v>3166700.51</c:v>
                </c:pt>
                <c:pt idx="7">
                  <c:v>1830711.9</c:v>
                </c:pt>
                <c:pt idx="8">
                  <c:v>1762085.22</c:v>
                </c:pt>
                <c:pt idx="9">
                  <c:v>1633783.79</c:v>
                </c:pt>
              </c:numCache>
            </c:numRef>
          </c:val>
          <c:extLst>
            <c:ext xmlns:c16="http://schemas.microsoft.com/office/drawing/2014/chart" uri="{C3380CC4-5D6E-409C-BE32-E72D297353CC}">
              <c16:uniqueId val="{00000000-B6E4-4D47-AB76-8474FF11F776}"/>
            </c:ext>
          </c:extLst>
        </c:ser>
        <c:dLbls>
          <c:showLegendKey val="0"/>
          <c:showVal val="0"/>
          <c:showCatName val="0"/>
          <c:showSerName val="0"/>
          <c:showPercent val="0"/>
          <c:showBubbleSize val="0"/>
        </c:dLbls>
        <c:gapWidth val="219"/>
        <c:overlap val="-27"/>
        <c:axId val="571863296"/>
        <c:axId val="577818112"/>
      </c:barChart>
      <c:catAx>
        <c:axId val="571863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7818112"/>
        <c:crosses val="autoZero"/>
        <c:auto val="1"/>
        <c:lblAlgn val="ctr"/>
        <c:lblOffset val="100"/>
        <c:noMultiLvlLbl val="0"/>
      </c:catAx>
      <c:valAx>
        <c:axId val="577818112"/>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186329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Market</a:t>
            </a:r>
            <a:r>
              <a:rPr lang="en-US" baseline="0"/>
              <a:t> Correlation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 1 - jb_share'!$B$1</c:f>
              <c:strCache>
                <c:ptCount val="1"/>
                <c:pt idx="0">
                  <c:v>jim_beam_total</c:v>
                </c:pt>
              </c:strCache>
            </c:strRef>
          </c:tx>
          <c:spPr>
            <a:solidFill>
              <a:schemeClr val="accent1"/>
            </a:solidFill>
            <a:ln>
              <a:noFill/>
            </a:ln>
            <a:effectLst/>
          </c:spPr>
          <c:invertIfNegative val="0"/>
          <c:cat>
            <c:strRef>
              <c:f>'Sheet 1 - jb_share'!$A$2:$A$15</c:f>
              <c:strCache>
                <c:ptCount val="14"/>
                <c:pt idx="0">
                  <c:v>2014-01-01 00:00:00</c:v>
                </c:pt>
                <c:pt idx="1">
                  <c:v>2014-02-01 00:00:00</c:v>
                </c:pt>
                <c:pt idx="2">
                  <c:v>2014-03-01 00:00:00</c:v>
                </c:pt>
                <c:pt idx="3">
                  <c:v>2014-04-01 00:00:00</c:v>
                </c:pt>
                <c:pt idx="4">
                  <c:v>2014-05-01 00:00:00</c:v>
                </c:pt>
                <c:pt idx="5">
                  <c:v>2014-06-01 00:00:00</c:v>
                </c:pt>
                <c:pt idx="6">
                  <c:v>2014-07-01 00:00:00</c:v>
                </c:pt>
                <c:pt idx="7">
                  <c:v>2014-08-01 00:00:00</c:v>
                </c:pt>
                <c:pt idx="8">
                  <c:v>2014-09-01 00:00:00</c:v>
                </c:pt>
                <c:pt idx="9">
                  <c:v>2014-10-01 00:00:00</c:v>
                </c:pt>
                <c:pt idx="10">
                  <c:v>2014-11-01 00:00:00</c:v>
                </c:pt>
                <c:pt idx="11">
                  <c:v>2014-12-01 00:00:00</c:v>
                </c:pt>
                <c:pt idx="12">
                  <c:v>2015-01-01 00:00:00</c:v>
                </c:pt>
                <c:pt idx="13">
                  <c:v>2015-02-01 00:00:00</c:v>
                </c:pt>
              </c:strCache>
            </c:strRef>
          </c:cat>
          <c:val>
            <c:numRef>
              <c:f>'Sheet 1 - jb_share'!$B$2:$B$15</c:f>
              <c:numCache>
                <c:formatCode>"$"#,##0.00</c:formatCode>
                <c:ptCount val="14"/>
                <c:pt idx="0">
                  <c:v>469111.03999999998</c:v>
                </c:pt>
                <c:pt idx="1">
                  <c:v>495871.24</c:v>
                </c:pt>
                <c:pt idx="2">
                  <c:v>612783.5</c:v>
                </c:pt>
                <c:pt idx="3">
                  <c:v>604765.57999999996</c:v>
                </c:pt>
                <c:pt idx="4">
                  <c:v>590607.62</c:v>
                </c:pt>
                <c:pt idx="5">
                  <c:v>507609.4</c:v>
                </c:pt>
                <c:pt idx="6">
                  <c:v>188995.5</c:v>
                </c:pt>
                <c:pt idx="7">
                  <c:v>220021.69</c:v>
                </c:pt>
                <c:pt idx="8">
                  <c:v>269667.93</c:v>
                </c:pt>
                <c:pt idx="9">
                  <c:v>287136.25</c:v>
                </c:pt>
                <c:pt idx="10">
                  <c:v>324665.5</c:v>
                </c:pt>
                <c:pt idx="11">
                  <c:v>125614.48</c:v>
                </c:pt>
                <c:pt idx="12">
                  <c:v>199740.87</c:v>
                </c:pt>
                <c:pt idx="13">
                  <c:v>265779.21999999997</c:v>
                </c:pt>
              </c:numCache>
            </c:numRef>
          </c:val>
          <c:extLst>
            <c:ext xmlns:c16="http://schemas.microsoft.com/office/drawing/2014/chart" uri="{C3380CC4-5D6E-409C-BE32-E72D297353CC}">
              <c16:uniqueId val="{00000000-4DD3-9747-BB2E-09142211ACC6}"/>
            </c:ext>
          </c:extLst>
        </c:ser>
        <c:dLbls>
          <c:showLegendKey val="0"/>
          <c:showVal val="0"/>
          <c:showCatName val="0"/>
          <c:showSerName val="0"/>
          <c:showPercent val="0"/>
          <c:showBubbleSize val="0"/>
        </c:dLbls>
        <c:gapWidth val="150"/>
        <c:axId val="595319360"/>
        <c:axId val="560317760"/>
      </c:barChart>
      <c:lineChart>
        <c:grouping val="standard"/>
        <c:varyColors val="0"/>
        <c:ser>
          <c:idx val="1"/>
          <c:order val="1"/>
          <c:tx>
            <c:strRef>
              <c:f>'Sheet 1 - jb_share'!$C$1</c:f>
              <c:strCache>
                <c:ptCount val="1"/>
                <c:pt idx="0">
                  <c:v>overall_total</c:v>
                </c:pt>
              </c:strCache>
            </c:strRef>
          </c:tx>
          <c:spPr>
            <a:ln w="28575" cap="rnd">
              <a:solidFill>
                <a:schemeClr val="accent2"/>
              </a:solidFill>
              <a:round/>
            </a:ln>
            <a:effectLst/>
          </c:spPr>
          <c:marker>
            <c:symbol val="none"/>
          </c:marker>
          <c:cat>
            <c:strRef>
              <c:f>'Sheet 1 - jb_share'!$A$2:$A$15</c:f>
              <c:strCache>
                <c:ptCount val="14"/>
                <c:pt idx="0">
                  <c:v>2014-01-01 00:00:00</c:v>
                </c:pt>
                <c:pt idx="1">
                  <c:v>2014-02-01 00:00:00</c:v>
                </c:pt>
                <c:pt idx="2">
                  <c:v>2014-03-01 00:00:00</c:v>
                </c:pt>
                <c:pt idx="3">
                  <c:v>2014-04-01 00:00:00</c:v>
                </c:pt>
                <c:pt idx="4">
                  <c:v>2014-05-01 00:00:00</c:v>
                </c:pt>
                <c:pt idx="5">
                  <c:v>2014-06-01 00:00:00</c:v>
                </c:pt>
                <c:pt idx="6">
                  <c:v>2014-07-01 00:00:00</c:v>
                </c:pt>
                <c:pt idx="7">
                  <c:v>2014-08-01 00:00:00</c:v>
                </c:pt>
                <c:pt idx="8">
                  <c:v>2014-09-01 00:00:00</c:v>
                </c:pt>
                <c:pt idx="9">
                  <c:v>2014-10-01 00:00:00</c:v>
                </c:pt>
                <c:pt idx="10">
                  <c:v>2014-11-01 00:00:00</c:v>
                </c:pt>
                <c:pt idx="11">
                  <c:v>2014-12-01 00:00:00</c:v>
                </c:pt>
                <c:pt idx="12">
                  <c:v>2015-01-01 00:00:00</c:v>
                </c:pt>
                <c:pt idx="13">
                  <c:v>2015-02-01 00:00:00</c:v>
                </c:pt>
              </c:strCache>
            </c:strRef>
          </c:cat>
          <c:val>
            <c:numRef>
              <c:f>'Sheet 1 - jb_share'!$C$2:$C$15</c:f>
              <c:numCache>
                <c:formatCode>"$"#,##0.00</c:formatCode>
                <c:ptCount val="14"/>
                <c:pt idx="0">
                  <c:v>6218000.7999999998</c:v>
                </c:pt>
                <c:pt idx="1">
                  <c:v>6230610.7800000003</c:v>
                </c:pt>
                <c:pt idx="2">
                  <c:v>6884136.7800000003</c:v>
                </c:pt>
                <c:pt idx="3">
                  <c:v>6861110.9199999999</c:v>
                </c:pt>
                <c:pt idx="4">
                  <c:v>6745317.0599999996</c:v>
                </c:pt>
                <c:pt idx="5">
                  <c:v>4401057.26</c:v>
                </c:pt>
                <c:pt idx="6">
                  <c:v>3259383.85</c:v>
                </c:pt>
                <c:pt idx="7">
                  <c:v>3382431.03</c:v>
                </c:pt>
                <c:pt idx="8">
                  <c:v>3457594.59</c:v>
                </c:pt>
                <c:pt idx="9">
                  <c:v>3907435.09</c:v>
                </c:pt>
                <c:pt idx="10">
                  <c:v>3222754.07</c:v>
                </c:pt>
                <c:pt idx="11">
                  <c:v>1713612.09</c:v>
                </c:pt>
                <c:pt idx="12">
                  <c:v>2690868.38</c:v>
                </c:pt>
                <c:pt idx="13">
                  <c:v>3252271.56</c:v>
                </c:pt>
              </c:numCache>
            </c:numRef>
          </c:val>
          <c:smooth val="0"/>
          <c:extLst>
            <c:ext xmlns:c16="http://schemas.microsoft.com/office/drawing/2014/chart" uri="{C3380CC4-5D6E-409C-BE32-E72D297353CC}">
              <c16:uniqueId val="{00000001-4DD3-9747-BB2E-09142211ACC6}"/>
            </c:ext>
          </c:extLst>
        </c:ser>
        <c:dLbls>
          <c:showLegendKey val="0"/>
          <c:showVal val="0"/>
          <c:showCatName val="0"/>
          <c:showSerName val="0"/>
          <c:showPercent val="0"/>
          <c:showBubbleSize val="0"/>
        </c:dLbls>
        <c:marker val="1"/>
        <c:smooth val="0"/>
        <c:axId val="629264768"/>
        <c:axId val="627474880"/>
      </c:lineChart>
      <c:catAx>
        <c:axId val="595319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60317760"/>
        <c:crosses val="autoZero"/>
        <c:auto val="1"/>
        <c:lblAlgn val="ctr"/>
        <c:lblOffset val="100"/>
        <c:noMultiLvlLbl val="0"/>
      </c:catAx>
      <c:valAx>
        <c:axId val="560317760"/>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5319360"/>
        <c:crosses val="autoZero"/>
        <c:crossBetween val="between"/>
      </c:valAx>
      <c:valAx>
        <c:axId val="627474880"/>
        <c:scaling>
          <c:orientation val="minMax"/>
        </c:scaling>
        <c:delete val="0"/>
        <c:axPos val="r"/>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9264768"/>
        <c:crosses val="max"/>
        <c:crossBetween val="between"/>
      </c:valAx>
      <c:catAx>
        <c:axId val="629264768"/>
        <c:scaling>
          <c:orientation val="minMax"/>
        </c:scaling>
        <c:delete val="1"/>
        <c:axPos val="b"/>
        <c:numFmt formatCode="General" sourceLinked="1"/>
        <c:majorTickMark val="none"/>
        <c:minorTickMark val="none"/>
        <c:tickLblPos val="nextTo"/>
        <c:crossAx val="627474880"/>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[jb_rank.xlsx]Sheet3!PivotTable3</c:name>
    <c:fmtId val="6"/>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0278208898586475"/>
          <c:y val="6.1538461538461542E-2"/>
          <c:w val="0.46951721235291022"/>
          <c:h val="0.65000563979089387"/>
        </c:manualLayout>
      </c:layout>
      <c:barChart>
        <c:barDir val="col"/>
        <c:grouping val="clustered"/>
        <c:varyColors val="0"/>
        <c:ser>
          <c:idx val="0"/>
          <c:order val="0"/>
          <c:tx>
            <c:strRef>
              <c:f>Sheet3!$B$1</c:f>
              <c:strCache>
                <c:ptCount val="1"/>
                <c:pt idx="0">
                  <c:v>Total</c:v>
                </c:pt>
              </c:strCache>
            </c:strRef>
          </c:tx>
          <c:spPr>
            <a:solidFill>
              <a:schemeClr val="accent1"/>
            </a:solidFill>
            <a:ln>
              <a:noFill/>
            </a:ln>
            <a:effectLst/>
          </c:spPr>
          <c:invertIfNegative val="0"/>
          <c:cat>
            <c:strRef>
              <c:f>Sheet3!$A$2:$A$12</c:f>
              <c:strCache>
                <c:ptCount val="10"/>
                <c:pt idx="0">
                  <c:v>Diageo Americas</c:v>
                </c:pt>
                <c:pt idx="1">
                  <c:v>Sazerac</c:v>
                </c:pt>
                <c:pt idx="2">
                  <c:v>Pernod Ricard USA/Austin Nichols</c:v>
                </c:pt>
                <c:pt idx="3">
                  <c:v>Jim Beam Brands</c:v>
                </c:pt>
                <c:pt idx="4">
                  <c:v>Brown-Forman Corporation</c:v>
                </c:pt>
                <c:pt idx="5">
                  <c:v>Bacardi U.S.A. Inc.</c:v>
                </c:pt>
                <c:pt idx="6">
                  <c:v>Luxco-St Louis</c:v>
                </c:pt>
                <c:pt idx="7">
                  <c:v>Proximo</c:v>
                </c:pt>
                <c:pt idx="8">
                  <c:v>The Patron Spirits Company</c:v>
                </c:pt>
                <c:pt idx="9">
                  <c:v>Sidney Frank Importing Co.</c:v>
                </c:pt>
              </c:strCache>
            </c:strRef>
          </c:cat>
          <c:val>
            <c:numRef>
              <c:f>Sheet3!$B$2:$B$12</c:f>
              <c:numCache>
                <c:formatCode>"$"#,##0.00</c:formatCode>
                <c:ptCount val="10"/>
                <c:pt idx="0">
                  <c:v>14413582.25</c:v>
                </c:pt>
                <c:pt idx="1">
                  <c:v>7149135.6299999999</c:v>
                </c:pt>
                <c:pt idx="2">
                  <c:v>6055053.0599999996</c:v>
                </c:pt>
                <c:pt idx="3">
                  <c:v>5162369.82</c:v>
                </c:pt>
                <c:pt idx="4">
                  <c:v>4537546.78</c:v>
                </c:pt>
                <c:pt idx="5">
                  <c:v>3827018.39</c:v>
                </c:pt>
                <c:pt idx="6">
                  <c:v>3166700.51</c:v>
                </c:pt>
                <c:pt idx="7">
                  <c:v>1830711.9</c:v>
                </c:pt>
                <c:pt idx="8">
                  <c:v>1762085.22</c:v>
                </c:pt>
                <c:pt idx="9">
                  <c:v>1633783.79</c:v>
                </c:pt>
              </c:numCache>
            </c:numRef>
          </c:val>
          <c:extLst>
            <c:ext xmlns:c16="http://schemas.microsoft.com/office/drawing/2014/chart" uri="{C3380CC4-5D6E-409C-BE32-E72D297353CC}">
              <c16:uniqueId val="{00000000-066A-CD4D-9CFA-9DC41216A9DC}"/>
            </c:ext>
          </c:extLst>
        </c:ser>
        <c:dLbls>
          <c:showLegendKey val="0"/>
          <c:showVal val="0"/>
          <c:showCatName val="0"/>
          <c:showSerName val="0"/>
          <c:showPercent val="0"/>
          <c:showBubbleSize val="0"/>
        </c:dLbls>
        <c:gapWidth val="219"/>
        <c:overlap val="-27"/>
        <c:axId val="571863296"/>
        <c:axId val="577818112"/>
      </c:barChart>
      <c:catAx>
        <c:axId val="571863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7818112"/>
        <c:crosses val="autoZero"/>
        <c:auto val="1"/>
        <c:lblAlgn val="ctr"/>
        <c:lblOffset val="100"/>
        <c:noMultiLvlLbl val="0"/>
      </c:catAx>
      <c:valAx>
        <c:axId val="577818112"/>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7186329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 1 - jb_share'!$D$1</c:f>
              <c:strCache>
                <c:ptCount val="1"/>
                <c:pt idx="0">
                  <c:v>jim_beam_share</c:v>
                </c:pt>
              </c:strCache>
            </c:strRef>
          </c:tx>
          <c:spPr>
            <a:ln w="28575" cap="rnd">
              <a:solidFill>
                <a:schemeClr val="accent1"/>
              </a:solidFill>
              <a:round/>
            </a:ln>
            <a:effectLst/>
          </c:spPr>
          <c:marker>
            <c:symbol val="none"/>
          </c:marker>
          <c:val>
            <c:numRef>
              <c:f>'Sheet 1 - jb_share'!$D$2:$D$15</c:f>
              <c:numCache>
                <c:formatCode>General</c:formatCode>
                <c:ptCount val="14"/>
                <c:pt idx="0">
                  <c:v>0.08</c:v>
                </c:pt>
                <c:pt idx="1">
                  <c:v>0.08</c:v>
                </c:pt>
                <c:pt idx="2">
                  <c:v>0.09</c:v>
                </c:pt>
                <c:pt idx="3">
                  <c:v>0.09</c:v>
                </c:pt>
                <c:pt idx="4">
                  <c:v>0.09</c:v>
                </c:pt>
                <c:pt idx="5">
                  <c:v>0.12</c:v>
                </c:pt>
                <c:pt idx="6">
                  <c:v>0.06</c:v>
                </c:pt>
                <c:pt idx="7">
                  <c:v>7.0000000000000007E-2</c:v>
                </c:pt>
                <c:pt idx="8">
                  <c:v>0.08</c:v>
                </c:pt>
                <c:pt idx="9">
                  <c:v>7.0000000000000007E-2</c:v>
                </c:pt>
                <c:pt idx="10">
                  <c:v>0.1</c:v>
                </c:pt>
                <c:pt idx="11">
                  <c:v>7.0000000000000007E-2</c:v>
                </c:pt>
                <c:pt idx="12">
                  <c:v>7.0000000000000007E-2</c:v>
                </c:pt>
                <c:pt idx="13">
                  <c:v>0.08</c:v>
                </c:pt>
              </c:numCache>
            </c:numRef>
          </c:val>
          <c:smooth val="0"/>
          <c:extLst>
            <c:ext xmlns:c16="http://schemas.microsoft.com/office/drawing/2014/chart" uri="{C3380CC4-5D6E-409C-BE32-E72D297353CC}">
              <c16:uniqueId val="{00000000-BFA7-7D4A-A954-14E477148579}"/>
            </c:ext>
          </c:extLst>
        </c:ser>
        <c:dLbls>
          <c:showLegendKey val="0"/>
          <c:showVal val="0"/>
          <c:showCatName val="0"/>
          <c:showSerName val="0"/>
          <c:showPercent val="0"/>
          <c:showBubbleSize val="0"/>
        </c:dLbls>
        <c:smooth val="0"/>
        <c:axId val="627740160"/>
        <c:axId val="627741056"/>
      </c:lineChart>
      <c:catAx>
        <c:axId val="62774016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7741056"/>
        <c:crosses val="autoZero"/>
        <c:auto val="1"/>
        <c:lblAlgn val="ctr"/>
        <c:lblOffset val="100"/>
        <c:noMultiLvlLbl val="0"/>
      </c:catAx>
      <c:valAx>
        <c:axId val="6277410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77401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 1 - jb_share'!$B$1</c:f>
              <c:strCache>
                <c:ptCount val="1"/>
                <c:pt idx="0">
                  <c:v>jim_beam_total</c:v>
                </c:pt>
              </c:strCache>
            </c:strRef>
          </c:tx>
          <c:spPr>
            <a:solidFill>
              <a:schemeClr val="accent1"/>
            </a:solidFill>
            <a:ln>
              <a:noFill/>
            </a:ln>
            <a:effectLst/>
          </c:spPr>
          <c:invertIfNegative val="0"/>
          <c:val>
            <c:numRef>
              <c:f>'Sheet 1 - jb_share'!$B$2:$B$15</c:f>
              <c:numCache>
                <c:formatCode>"$"#,##0.00</c:formatCode>
                <c:ptCount val="14"/>
                <c:pt idx="0">
                  <c:v>469111.03999999998</c:v>
                </c:pt>
                <c:pt idx="1">
                  <c:v>495871.24</c:v>
                </c:pt>
                <c:pt idx="2">
                  <c:v>612783.5</c:v>
                </c:pt>
                <c:pt idx="3">
                  <c:v>604765.57999999996</c:v>
                </c:pt>
                <c:pt idx="4">
                  <c:v>590607.62</c:v>
                </c:pt>
                <c:pt idx="5">
                  <c:v>507609.4</c:v>
                </c:pt>
                <c:pt idx="6">
                  <c:v>188995.5</c:v>
                </c:pt>
                <c:pt idx="7">
                  <c:v>220021.69</c:v>
                </c:pt>
                <c:pt idx="8">
                  <c:v>269667.93</c:v>
                </c:pt>
                <c:pt idx="9">
                  <c:v>287136.25</c:v>
                </c:pt>
                <c:pt idx="10">
                  <c:v>324665.5</c:v>
                </c:pt>
                <c:pt idx="11">
                  <c:v>125614.48</c:v>
                </c:pt>
                <c:pt idx="12">
                  <c:v>199740.87</c:v>
                </c:pt>
                <c:pt idx="13">
                  <c:v>265779.21999999997</c:v>
                </c:pt>
              </c:numCache>
            </c:numRef>
          </c:val>
          <c:extLst>
            <c:ext xmlns:c16="http://schemas.microsoft.com/office/drawing/2014/chart" uri="{C3380CC4-5D6E-409C-BE32-E72D297353CC}">
              <c16:uniqueId val="{00000000-9A92-B44B-8D18-CAAEBC4883C4}"/>
            </c:ext>
          </c:extLst>
        </c:ser>
        <c:dLbls>
          <c:showLegendKey val="0"/>
          <c:showVal val="0"/>
          <c:showCatName val="0"/>
          <c:showSerName val="0"/>
          <c:showPercent val="0"/>
          <c:showBubbleSize val="0"/>
        </c:dLbls>
        <c:gapWidth val="219"/>
        <c:overlap val="-27"/>
        <c:axId val="630171264"/>
        <c:axId val="630173056"/>
      </c:barChart>
      <c:catAx>
        <c:axId val="63017126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0173056"/>
        <c:crosses val="autoZero"/>
        <c:auto val="1"/>
        <c:lblAlgn val="ctr"/>
        <c:lblOffset val="100"/>
        <c:noMultiLvlLbl val="0"/>
      </c:catAx>
      <c:valAx>
        <c:axId val="630173056"/>
        <c:scaling>
          <c:orientation val="minMax"/>
        </c:scaling>
        <c:delete val="0"/>
        <c:axPos val="l"/>
        <c:majorGridlines>
          <c:spPr>
            <a:ln w="9525" cap="flat" cmpd="sng" algn="ctr">
              <a:solidFill>
                <a:schemeClr val="tx1">
                  <a:lumMod val="15000"/>
                  <a:lumOff val="85000"/>
                </a:schemeClr>
              </a:solidFill>
              <a:round/>
            </a:ln>
            <a:effectLst/>
          </c:spPr>
        </c:majorGridlines>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01712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Avg</a:t>
            </a:r>
            <a:r>
              <a:rPr lang="en-US" baseline="0"/>
              <a:t> Tx Value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 1 - tx_count_compare'!$B$1</c:f>
              <c:strCache>
                <c:ptCount val="1"/>
                <c:pt idx="0">
                  <c:v>jim_beam_tx_count</c:v>
                </c:pt>
              </c:strCache>
            </c:strRef>
          </c:tx>
          <c:spPr>
            <a:solidFill>
              <a:schemeClr val="accent1"/>
            </a:solidFill>
            <a:ln>
              <a:noFill/>
            </a:ln>
            <a:effectLst/>
          </c:spPr>
          <c:invertIfNegative val="0"/>
          <c:val>
            <c:numRef>
              <c:f>'Sheet 1 - tx_count_compare'!$B$2:$B$15</c:f>
              <c:numCache>
                <c:formatCode>General</c:formatCode>
                <c:ptCount val="14"/>
                <c:pt idx="0">
                  <c:v>1922</c:v>
                </c:pt>
                <c:pt idx="1">
                  <c:v>1944</c:v>
                </c:pt>
                <c:pt idx="2">
                  <c:v>2312</c:v>
                </c:pt>
                <c:pt idx="3">
                  <c:v>2048</c:v>
                </c:pt>
                <c:pt idx="4">
                  <c:v>1968</c:v>
                </c:pt>
                <c:pt idx="5">
                  <c:v>1031</c:v>
                </c:pt>
                <c:pt idx="6">
                  <c:v>911</c:v>
                </c:pt>
                <c:pt idx="7">
                  <c:v>900</c:v>
                </c:pt>
                <c:pt idx="8">
                  <c:v>933</c:v>
                </c:pt>
                <c:pt idx="9">
                  <c:v>1178</c:v>
                </c:pt>
                <c:pt idx="10">
                  <c:v>859</c:v>
                </c:pt>
                <c:pt idx="11">
                  <c:v>375</c:v>
                </c:pt>
                <c:pt idx="12">
                  <c:v>808</c:v>
                </c:pt>
                <c:pt idx="13">
                  <c:v>914</c:v>
                </c:pt>
              </c:numCache>
            </c:numRef>
          </c:val>
          <c:extLst>
            <c:ext xmlns:c16="http://schemas.microsoft.com/office/drawing/2014/chart" uri="{C3380CC4-5D6E-409C-BE32-E72D297353CC}">
              <c16:uniqueId val="{00000000-E776-BE4C-B10D-8A91576A6748}"/>
            </c:ext>
          </c:extLst>
        </c:ser>
        <c:dLbls>
          <c:showLegendKey val="0"/>
          <c:showVal val="0"/>
          <c:showCatName val="0"/>
          <c:showSerName val="0"/>
          <c:showPercent val="0"/>
          <c:showBubbleSize val="0"/>
        </c:dLbls>
        <c:gapWidth val="150"/>
        <c:axId val="627526272"/>
        <c:axId val="627534336"/>
      </c:barChart>
      <c:lineChart>
        <c:grouping val="standard"/>
        <c:varyColors val="0"/>
        <c:ser>
          <c:idx val="1"/>
          <c:order val="1"/>
          <c:tx>
            <c:strRef>
              <c:f>'Sheet 1 - tx_count_compare'!$F$1</c:f>
              <c:strCache>
                <c:ptCount val="1"/>
                <c:pt idx="0">
                  <c:v>jim_beam_avg_ticket</c:v>
                </c:pt>
              </c:strCache>
            </c:strRef>
          </c:tx>
          <c:spPr>
            <a:ln w="28575" cap="rnd">
              <a:solidFill>
                <a:schemeClr val="accent2"/>
              </a:solidFill>
              <a:round/>
            </a:ln>
            <a:effectLst/>
          </c:spPr>
          <c:marker>
            <c:symbol val="none"/>
          </c:marker>
          <c:val>
            <c:numRef>
              <c:f>'Sheet 1 - tx_count_compare'!$F$2:$F$15</c:f>
              <c:numCache>
                <c:formatCode>"$"0.00</c:formatCode>
                <c:ptCount val="14"/>
                <c:pt idx="0">
                  <c:v>244.07</c:v>
                </c:pt>
                <c:pt idx="1">
                  <c:v>255.08</c:v>
                </c:pt>
                <c:pt idx="2">
                  <c:v>265.04000000000002</c:v>
                </c:pt>
                <c:pt idx="3">
                  <c:v>295.3</c:v>
                </c:pt>
                <c:pt idx="4">
                  <c:v>300.11</c:v>
                </c:pt>
                <c:pt idx="5">
                  <c:v>492.35</c:v>
                </c:pt>
                <c:pt idx="6">
                  <c:v>207.46</c:v>
                </c:pt>
                <c:pt idx="7">
                  <c:v>244.47</c:v>
                </c:pt>
                <c:pt idx="8">
                  <c:v>289.02999999999997</c:v>
                </c:pt>
                <c:pt idx="9">
                  <c:v>243.75</c:v>
                </c:pt>
                <c:pt idx="10">
                  <c:v>377.96</c:v>
                </c:pt>
                <c:pt idx="11">
                  <c:v>334.97</c:v>
                </c:pt>
                <c:pt idx="12">
                  <c:v>247.2</c:v>
                </c:pt>
                <c:pt idx="13">
                  <c:v>290.79000000000002</c:v>
                </c:pt>
              </c:numCache>
            </c:numRef>
          </c:val>
          <c:smooth val="0"/>
          <c:extLst>
            <c:ext xmlns:c16="http://schemas.microsoft.com/office/drawing/2014/chart" uri="{C3380CC4-5D6E-409C-BE32-E72D297353CC}">
              <c16:uniqueId val="{00000001-E776-BE4C-B10D-8A91576A6748}"/>
            </c:ext>
          </c:extLst>
        </c:ser>
        <c:dLbls>
          <c:showLegendKey val="0"/>
          <c:showVal val="0"/>
          <c:showCatName val="0"/>
          <c:showSerName val="0"/>
          <c:showPercent val="0"/>
          <c:showBubbleSize val="0"/>
        </c:dLbls>
        <c:marker val="1"/>
        <c:smooth val="0"/>
        <c:axId val="627524928"/>
        <c:axId val="627537024"/>
      </c:lineChart>
      <c:catAx>
        <c:axId val="627526272"/>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7534336"/>
        <c:crosses val="autoZero"/>
        <c:auto val="1"/>
        <c:lblAlgn val="ctr"/>
        <c:lblOffset val="100"/>
        <c:noMultiLvlLbl val="0"/>
      </c:catAx>
      <c:valAx>
        <c:axId val="6275343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7526272"/>
        <c:crosses val="autoZero"/>
        <c:crossBetween val="between"/>
      </c:valAx>
      <c:valAx>
        <c:axId val="627537024"/>
        <c:scaling>
          <c:orientation val="minMax"/>
        </c:scaling>
        <c:delete val="0"/>
        <c:axPos val="r"/>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7524928"/>
        <c:crosses val="max"/>
        <c:crossBetween val="between"/>
      </c:valAx>
      <c:catAx>
        <c:axId val="627524928"/>
        <c:scaling>
          <c:orientation val="minMax"/>
        </c:scaling>
        <c:delete val="1"/>
        <c:axPos val="b"/>
        <c:majorTickMark val="none"/>
        <c:minorTickMark val="none"/>
        <c:tickLblPos val="nextTo"/>
        <c:crossAx val="627537024"/>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Seasonal Volume Collapse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 1 - tx_count_compare'!$B$1</c:f>
              <c:strCache>
                <c:ptCount val="1"/>
                <c:pt idx="0">
                  <c:v>jim_beam_tx_count</c:v>
                </c:pt>
              </c:strCache>
            </c:strRef>
          </c:tx>
          <c:spPr>
            <a:solidFill>
              <a:schemeClr val="accent1"/>
            </a:solidFill>
            <a:ln>
              <a:noFill/>
            </a:ln>
            <a:effectLst/>
          </c:spPr>
          <c:invertIfNegative val="0"/>
          <c:val>
            <c:numRef>
              <c:f>'Sheet 1 - tx_count_compare'!$B$2:$B$15</c:f>
              <c:numCache>
                <c:formatCode>General</c:formatCode>
                <c:ptCount val="14"/>
                <c:pt idx="0">
                  <c:v>1922</c:v>
                </c:pt>
                <c:pt idx="1">
                  <c:v>1944</c:v>
                </c:pt>
                <c:pt idx="2">
                  <c:v>2312</c:v>
                </c:pt>
                <c:pt idx="3">
                  <c:v>2048</c:v>
                </c:pt>
                <c:pt idx="4">
                  <c:v>1968</c:v>
                </c:pt>
                <c:pt idx="5">
                  <c:v>1031</c:v>
                </c:pt>
                <c:pt idx="6">
                  <c:v>911</c:v>
                </c:pt>
                <c:pt idx="7">
                  <c:v>900</c:v>
                </c:pt>
                <c:pt idx="8">
                  <c:v>933</c:v>
                </c:pt>
                <c:pt idx="9">
                  <c:v>1178</c:v>
                </c:pt>
                <c:pt idx="10">
                  <c:v>859</c:v>
                </c:pt>
                <c:pt idx="11">
                  <c:v>375</c:v>
                </c:pt>
                <c:pt idx="12">
                  <c:v>808</c:v>
                </c:pt>
                <c:pt idx="13">
                  <c:v>914</c:v>
                </c:pt>
              </c:numCache>
            </c:numRef>
          </c:val>
          <c:extLst>
            <c:ext xmlns:c16="http://schemas.microsoft.com/office/drawing/2014/chart" uri="{C3380CC4-5D6E-409C-BE32-E72D297353CC}">
              <c16:uniqueId val="{00000000-F56C-F545-B56C-2A806DC15A83}"/>
            </c:ext>
          </c:extLst>
        </c:ser>
        <c:dLbls>
          <c:showLegendKey val="0"/>
          <c:showVal val="0"/>
          <c:showCatName val="0"/>
          <c:showSerName val="0"/>
          <c:showPercent val="0"/>
          <c:showBubbleSize val="0"/>
        </c:dLbls>
        <c:gapWidth val="150"/>
        <c:axId val="629033152"/>
        <c:axId val="629042112"/>
      </c:barChart>
      <c:lineChart>
        <c:grouping val="standard"/>
        <c:varyColors val="0"/>
        <c:ser>
          <c:idx val="1"/>
          <c:order val="1"/>
          <c:tx>
            <c:strRef>
              <c:f>'Sheet 1 - tx_count_compare'!$D$1</c:f>
              <c:strCache>
                <c:ptCount val="1"/>
                <c:pt idx="0">
                  <c:v>jim_beam_total</c:v>
                </c:pt>
              </c:strCache>
            </c:strRef>
          </c:tx>
          <c:spPr>
            <a:ln w="28575" cap="rnd">
              <a:solidFill>
                <a:schemeClr val="accent2"/>
              </a:solidFill>
              <a:round/>
            </a:ln>
            <a:effectLst/>
          </c:spPr>
          <c:marker>
            <c:symbol val="none"/>
          </c:marker>
          <c:val>
            <c:numRef>
              <c:f>'Sheet 1 - tx_count_compare'!$D$2:$D$15</c:f>
              <c:numCache>
                <c:formatCode>"$"#,##0.00</c:formatCode>
                <c:ptCount val="14"/>
                <c:pt idx="0">
                  <c:v>469111.03999999998</c:v>
                </c:pt>
                <c:pt idx="1">
                  <c:v>495871.24</c:v>
                </c:pt>
                <c:pt idx="2">
                  <c:v>612783.5</c:v>
                </c:pt>
                <c:pt idx="3">
                  <c:v>604765.57999999996</c:v>
                </c:pt>
                <c:pt idx="4">
                  <c:v>590607.62</c:v>
                </c:pt>
                <c:pt idx="5">
                  <c:v>507609.4</c:v>
                </c:pt>
                <c:pt idx="6">
                  <c:v>188995.5</c:v>
                </c:pt>
                <c:pt idx="7">
                  <c:v>220021.69</c:v>
                </c:pt>
                <c:pt idx="8">
                  <c:v>269667.93</c:v>
                </c:pt>
                <c:pt idx="9">
                  <c:v>287136.25</c:v>
                </c:pt>
                <c:pt idx="10">
                  <c:v>324665.5</c:v>
                </c:pt>
                <c:pt idx="11">
                  <c:v>125614.48</c:v>
                </c:pt>
                <c:pt idx="12">
                  <c:v>199740.87</c:v>
                </c:pt>
                <c:pt idx="13">
                  <c:v>265779.21999999997</c:v>
                </c:pt>
              </c:numCache>
            </c:numRef>
          </c:val>
          <c:smooth val="0"/>
          <c:extLst>
            <c:ext xmlns:c16="http://schemas.microsoft.com/office/drawing/2014/chart" uri="{C3380CC4-5D6E-409C-BE32-E72D297353CC}">
              <c16:uniqueId val="{00000001-F56C-F545-B56C-2A806DC15A83}"/>
            </c:ext>
          </c:extLst>
        </c:ser>
        <c:dLbls>
          <c:showLegendKey val="0"/>
          <c:showVal val="0"/>
          <c:showCatName val="0"/>
          <c:showSerName val="0"/>
          <c:showPercent val="0"/>
          <c:showBubbleSize val="0"/>
        </c:dLbls>
        <c:marker val="1"/>
        <c:smooth val="0"/>
        <c:axId val="630259008"/>
        <c:axId val="629045696"/>
      </c:lineChart>
      <c:catAx>
        <c:axId val="629033152"/>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9042112"/>
        <c:crosses val="autoZero"/>
        <c:auto val="1"/>
        <c:lblAlgn val="ctr"/>
        <c:lblOffset val="100"/>
        <c:noMultiLvlLbl val="0"/>
      </c:catAx>
      <c:valAx>
        <c:axId val="6290421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9033152"/>
        <c:crosses val="autoZero"/>
        <c:crossBetween val="between"/>
      </c:valAx>
      <c:valAx>
        <c:axId val="629045696"/>
        <c:scaling>
          <c:orientation val="minMax"/>
        </c:scaling>
        <c:delete val="0"/>
        <c:axPos val="r"/>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0259008"/>
        <c:crosses val="max"/>
        <c:crossBetween val="between"/>
      </c:valAx>
      <c:catAx>
        <c:axId val="630259008"/>
        <c:scaling>
          <c:orientation val="minMax"/>
        </c:scaling>
        <c:delete val="1"/>
        <c:axPos val="b"/>
        <c:majorTickMark val="none"/>
        <c:minorTickMark val="none"/>
        <c:tickLblPos val="nextTo"/>
        <c:crossAx val="62904569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Seasonal Volume Collapse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 1 - tx_count_compare'!$B$1</c:f>
              <c:strCache>
                <c:ptCount val="1"/>
                <c:pt idx="0">
                  <c:v>jim_beam_tx_count</c:v>
                </c:pt>
              </c:strCache>
            </c:strRef>
          </c:tx>
          <c:spPr>
            <a:solidFill>
              <a:schemeClr val="accent1"/>
            </a:solidFill>
            <a:ln>
              <a:noFill/>
            </a:ln>
            <a:effectLst/>
          </c:spPr>
          <c:invertIfNegative val="0"/>
          <c:val>
            <c:numRef>
              <c:f>'Sheet 1 - tx_count_compare'!$B$2:$B$15</c:f>
              <c:numCache>
                <c:formatCode>General</c:formatCode>
                <c:ptCount val="14"/>
                <c:pt idx="0">
                  <c:v>1922</c:v>
                </c:pt>
                <c:pt idx="1">
                  <c:v>1944</c:v>
                </c:pt>
                <c:pt idx="2">
                  <c:v>2312</c:v>
                </c:pt>
                <c:pt idx="3">
                  <c:v>2048</c:v>
                </c:pt>
                <c:pt idx="4">
                  <c:v>1968</c:v>
                </c:pt>
                <c:pt idx="5">
                  <c:v>1031</c:v>
                </c:pt>
                <c:pt idx="6">
                  <c:v>911</c:v>
                </c:pt>
                <c:pt idx="7">
                  <c:v>900</c:v>
                </c:pt>
                <c:pt idx="8">
                  <c:v>933</c:v>
                </c:pt>
                <c:pt idx="9">
                  <c:v>1178</c:v>
                </c:pt>
                <c:pt idx="10">
                  <c:v>859</c:v>
                </c:pt>
                <c:pt idx="11">
                  <c:v>375</c:v>
                </c:pt>
                <c:pt idx="12">
                  <c:v>808</c:v>
                </c:pt>
                <c:pt idx="13">
                  <c:v>914</c:v>
                </c:pt>
              </c:numCache>
            </c:numRef>
          </c:val>
          <c:extLst>
            <c:ext xmlns:c16="http://schemas.microsoft.com/office/drawing/2014/chart" uri="{C3380CC4-5D6E-409C-BE32-E72D297353CC}">
              <c16:uniqueId val="{00000000-A840-E745-A110-1ECE16474C51}"/>
            </c:ext>
          </c:extLst>
        </c:ser>
        <c:dLbls>
          <c:showLegendKey val="0"/>
          <c:showVal val="0"/>
          <c:showCatName val="0"/>
          <c:showSerName val="0"/>
          <c:showPercent val="0"/>
          <c:showBubbleSize val="0"/>
        </c:dLbls>
        <c:gapWidth val="150"/>
        <c:axId val="629033152"/>
        <c:axId val="629042112"/>
      </c:barChart>
      <c:lineChart>
        <c:grouping val="standard"/>
        <c:varyColors val="0"/>
        <c:ser>
          <c:idx val="1"/>
          <c:order val="1"/>
          <c:tx>
            <c:strRef>
              <c:f>'Sheet 1 - tx_count_compare'!$D$1</c:f>
              <c:strCache>
                <c:ptCount val="1"/>
                <c:pt idx="0">
                  <c:v>jim_beam_total</c:v>
                </c:pt>
              </c:strCache>
            </c:strRef>
          </c:tx>
          <c:spPr>
            <a:ln w="28575" cap="rnd">
              <a:solidFill>
                <a:schemeClr val="accent2"/>
              </a:solidFill>
              <a:round/>
            </a:ln>
            <a:effectLst/>
          </c:spPr>
          <c:marker>
            <c:symbol val="none"/>
          </c:marker>
          <c:val>
            <c:numRef>
              <c:f>'Sheet 1 - tx_count_compare'!$D$2:$D$15</c:f>
              <c:numCache>
                <c:formatCode>"$"#,##0.00</c:formatCode>
                <c:ptCount val="14"/>
                <c:pt idx="0">
                  <c:v>469111.03999999998</c:v>
                </c:pt>
                <c:pt idx="1">
                  <c:v>495871.24</c:v>
                </c:pt>
                <c:pt idx="2">
                  <c:v>612783.5</c:v>
                </c:pt>
                <c:pt idx="3">
                  <c:v>604765.57999999996</c:v>
                </c:pt>
                <c:pt idx="4">
                  <c:v>590607.62</c:v>
                </c:pt>
                <c:pt idx="5">
                  <c:v>507609.4</c:v>
                </c:pt>
                <c:pt idx="6">
                  <c:v>188995.5</c:v>
                </c:pt>
                <c:pt idx="7">
                  <c:v>220021.69</c:v>
                </c:pt>
                <c:pt idx="8">
                  <c:v>269667.93</c:v>
                </c:pt>
                <c:pt idx="9">
                  <c:v>287136.25</c:v>
                </c:pt>
                <c:pt idx="10">
                  <c:v>324665.5</c:v>
                </c:pt>
                <c:pt idx="11">
                  <c:v>125614.48</c:v>
                </c:pt>
                <c:pt idx="12">
                  <c:v>199740.87</c:v>
                </c:pt>
                <c:pt idx="13">
                  <c:v>265779.21999999997</c:v>
                </c:pt>
              </c:numCache>
            </c:numRef>
          </c:val>
          <c:smooth val="0"/>
          <c:extLst>
            <c:ext xmlns:c16="http://schemas.microsoft.com/office/drawing/2014/chart" uri="{C3380CC4-5D6E-409C-BE32-E72D297353CC}">
              <c16:uniqueId val="{00000001-A840-E745-A110-1ECE16474C51}"/>
            </c:ext>
          </c:extLst>
        </c:ser>
        <c:dLbls>
          <c:showLegendKey val="0"/>
          <c:showVal val="0"/>
          <c:showCatName val="0"/>
          <c:showSerName val="0"/>
          <c:showPercent val="0"/>
          <c:showBubbleSize val="0"/>
        </c:dLbls>
        <c:marker val="1"/>
        <c:smooth val="0"/>
        <c:axId val="630259008"/>
        <c:axId val="629045696"/>
      </c:lineChart>
      <c:catAx>
        <c:axId val="629033152"/>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9042112"/>
        <c:crosses val="autoZero"/>
        <c:auto val="1"/>
        <c:lblAlgn val="ctr"/>
        <c:lblOffset val="100"/>
        <c:noMultiLvlLbl val="0"/>
      </c:catAx>
      <c:valAx>
        <c:axId val="6290421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29033152"/>
        <c:crosses val="autoZero"/>
        <c:crossBetween val="between"/>
      </c:valAx>
      <c:valAx>
        <c:axId val="629045696"/>
        <c:scaling>
          <c:orientation val="minMax"/>
        </c:scaling>
        <c:delete val="0"/>
        <c:axPos val="r"/>
        <c:numFmt formatCode="&quot;$&quot;#,##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30259008"/>
        <c:crosses val="max"/>
        <c:crossBetween val="between"/>
      </c:valAx>
      <c:catAx>
        <c:axId val="630259008"/>
        <c:scaling>
          <c:orientation val="minMax"/>
        </c:scaling>
        <c:delete val="1"/>
        <c:axPos val="b"/>
        <c:majorTickMark val="none"/>
        <c:minorTickMark val="none"/>
        <c:tickLblPos val="nextTo"/>
        <c:crossAx val="62904569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8074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0.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26532"/>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Jim Beam Brands: Performance Analysis</a:t>
            </a:r>
            <a:endParaRPr lang="en-US" sz="4450" dirty="0"/>
          </a:p>
        </p:txBody>
      </p:sp>
      <p:sp>
        <p:nvSpPr>
          <p:cNvPr id="4" name="Text 1"/>
          <p:cNvSpPr/>
          <p:nvPr/>
        </p:nvSpPr>
        <p:spPr>
          <a:xfrm>
            <a:off x="793790" y="2584252"/>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A data-driven SWOT analysis based on Iowa liquor transactional sales data  from market position to strategic recommendations.</a:t>
            </a:r>
            <a:endParaRPr lang="en-US" sz="1750" dirty="0"/>
          </a:p>
        </p:txBody>
      </p:sp>
      <p:sp>
        <p:nvSpPr>
          <p:cNvPr id="5" name="Shape 2"/>
          <p:cNvSpPr/>
          <p:nvPr/>
        </p:nvSpPr>
        <p:spPr>
          <a:xfrm>
            <a:off x="793790" y="4286425"/>
            <a:ext cx="2343864" cy="441484"/>
          </a:xfrm>
          <a:prstGeom prst="roundRect">
            <a:avLst>
              <a:gd name="adj" fmla="val 6165"/>
            </a:avLst>
          </a:prstGeom>
          <a:noFill/>
          <a:ln w="7620">
            <a:solidFill>
              <a:srgbClr val="3E2513"/>
            </a:solidFill>
            <a:prstDash val="solid"/>
          </a:ln>
        </p:spPr>
        <p:txBody>
          <a:bodyPr/>
          <a:lstStyle/>
          <a:p>
            <a:endParaRPr lang="en-US"/>
          </a:p>
        </p:txBody>
      </p:sp>
      <p:sp>
        <p:nvSpPr>
          <p:cNvPr id="6" name="Text 3"/>
          <p:cNvSpPr/>
          <p:nvPr/>
        </p:nvSpPr>
        <p:spPr>
          <a:xfrm>
            <a:off x="937498" y="4362029"/>
            <a:ext cx="2056448" cy="290274"/>
          </a:xfrm>
          <a:prstGeom prst="rect">
            <a:avLst/>
          </a:prstGeom>
          <a:noFill/>
          <a:ln/>
        </p:spPr>
        <p:txBody>
          <a:bodyPr wrap="none" lIns="0" tIns="0" rIns="0" bIns="0" rtlCol="0" anchor="t"/>
          <a:lstStyle/>
          <a:p>
            <a:pPr marL="0" indent="0" algn="l">
              <a:lnSpc>
                <a:spcPts val="2250"/>
              </a:lnSpc>
              <a:buNone/>
            </a:pPr>
            <a:r>
              <a:rPr lang="en-US" sz="1400" dirty="0">
                <a:solidFill>
                  <a:srgbClr val="3E2513"/>
                </a:solidFill>
                <a:latin typeface="Source Serif 4" pitchFamily="34" charset="0"/>
                <a:ea typeface="Source Serif 4" pitchFamily="34" charset="-122"/>
                <a:cs typeface="Source Serif 4" pitchFamily="34" charset="-120"/>
              </a:rPr>
              <a:t>IOWA LIQUOR DATASET</a:t>
            </a:r>
            <a:endParaRPr lang="en-US" sz="1400" dirty="0"/>
          </a:p>
        </p:txBody>
      </p:sp>
      <p:sp>
        <p:nvSpPr>
          <p:cNvPr id="7" name="Shape 4"/>
          <p:cNvSpPr/>
          <p:nvPr/>
        </p:nvSpPr>
        <p:spPr>
          <a:xfrm>
            <a:off x="3251002" y="4286425"/>
            <a:ext cx="3257550" cy="441484"/>
          </a:xfrm>
          <a:prstGeom prst="roundRect">
            <a:avLst>
              <a:gd name="adj" fmla="val 6165"/>
            </a:avLst>
          </a:prstGeom>
          <a:noFill/>
          <a:ln w="7620">
            <a:solidFill>
              <a:srgbClr val="3E2513"/>
            </a:solidFill>
            <a:prstDash val="solid"/>
          </a:ln>
        </p:spPr>
        <p:txBody>
          <a:bodyPr/>
          <a:lstStyle/>
          <a:p>
            <a:endParaRPr lang="en-US"/>
          </a:p>
        </p:txBody>
      </p:sp>
      <p:sp>
        <p:nvSpPr>
          <p:cNvPr id="8" name="Text 5"/>
          <p:cNvSpPr/>
          <p:nvPr/>
        </p:nvSpPr>
        <p:spPr>
          <a:xfrm>
            <a:off x="3394710" y="4362029"/>
            <a:ext cx="2970133" cy="290274"/>
          </a:xfrm>
          <a:prstGeom prst="rect">
            <a:avLst/>
          </a:prstGeom>
          <a:noFill/>
          <a:ln/>
        </p:spPr>
        <p:txBody>
          <a:bodyPr wrap="none" lIns="0" tIns="0" rIns="0" bIns="0" rtlCol="0" anchor="t"/>
          <a:lstStyle/>
          <a:p>
            <a:pPr marL="0" indent="0" algn="l">
              <a:lnSpc>
                <a:spcPts val="2250"/>
              </a:lnSpc>
              <a:buNone/>
            </a:pPr>
            <a:r>
              <a:rPr lang="en-US" sz="1400" dirty="0">
                <a:solidFill>
                  <a:srgbClr val="3E2513"/>
                </a:solidFill>
                <a:latin typeface="Source Serif 4" pitchFamily="34" charset="0"/>
                <a:ea typeface="Source Serif 4" pitchFamily="34" charset="-122"/>
                <a:cs typeface="Source Serif 4" pitchFamily="34" charset="-120"/>
              </a:rPr>
              <a:t>VENDOR PERFORMANCE REVIEW</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888563"/>
            <a:ext cx="10504408" cy="708779"/>
          </a:xfrm>
          <a:prstGeom prst="rect">
            <a:avLst/>
          </a:prstGeom>
          <a:noFill/>
          <a:ln/>
        </p:spPr>
        <p:txBody>
          <a:bodyPr wrap="none" lIns="0" tIns="0" rIns="0" bIns="0" rtlCol="0" anchor="t"/>
          <a:lstStyle/>
          <a:p>
            <a:pPr marL="0" indent="0" algn="l">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Analytical Framework: Key Questions</a:t>
            </a:r>
            <a:endParaRPr lang="en-US" sz="4450" dirty="0"/>
          </a:p>
        </p:txBody>
      </p:sp>
      <p:sp>
        <p:nvSpPr>
          <p:cNvPr id="3" name="Text 1"/>
          <p:cNvSpPr/>
          <p:nvPr/>
        </p:nvSpPr>
        <p:spPr>
          <a:xfrm>
            <a:off x="793790" y="2050971"/>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504C49"/>
                </a:solidFill>
                <a:latin typeface="Source Serif 4" pitchFamily="34" charset="0"/>
                <a:ea typeface="Source Serif 4" pitchFamily="34" charset="-122"/>
                <a:cs typeface="Source Serif 4" pitchFamily="34" charset="-120"/>
              </a:rPr>
              <a:t>We are analyzing </a:t>
            </a:r>
            <a:r>
              <a:rPr lang="en-US" sz="1750" b="1" dirty="0">
                <a:solidFill>
                  <a:srgbClr val="504C49"/>
                </a:solidFill>
                <a:latin typeface="Source Serif 4" pitchFamily="34" charset="0"/>
                <a:ea typeface="Source Serif 4" pitchFamily="34" charset="-122"/>
                <a:cs typeface="Source Serif 4" pitchFamily="34" charset="-120"/>
              </a:rPr>
              <a:t>Jim Beam Brands</a:t>
            </a:r>
            <a:r>
              <a:rPr lang="en-US" sz="1750" dirty="0">
                <a:solidFill>
                  <a:srgbClr val="504C49"/>
                </a:solidFill>
                <a:latin typeface="Source Serif 4" pitchFamily="34" charset="0"/>
                <a:ea typeface="Source Serif 4" pitchFamily="34" charset="-122"/>
                <a:cs typeface="Source Serif 4" pitchFamily="34" charset="-120"/>
              </a:rPr>
              <a:t> using Iowa state liquor transactional data to test a hypothesis-driven scenario. The goal is to determine whether performance changes are driven by market conditions, competitive position, or customer behavior.</a:t>
            </a:r>
            <a:endParaRPr lang="en-US" sz="1750" dirty="0"/>
          </a:p>
        </p:txBody>
      </p:sp>
      <p:sp>
        <p:nvSpPr>
          <p:cNvPr id="4" name="Text 2"/>
          <p:cNvSpPr/>
          <p:nvPr/>
        </p:nvSpPr>
        <p:spPr>
          <a:xfrm>
            <a:off x="793790" y="3394829"/>
            <a:ext cx="13042821" cy="3946207"/>
          </a:xfrm>
          <a:prstGeom prst="rect">
            <a:avLst/>
          </a:prstGeom>
          <a:noFill/>
          <a:ln/>
        </p:spPr>
        <p:txBody>
          <a:bodyPr wrap="square" lIns="0" tIns="0" rIns="0" bIns="0" rtlCol="0" anchor="t"/>
          <a:lstStyle/>
          <a:p>
            <a:pPr marL="342900" indent="-342900">
              <a:lnSpc>
                <a:spcPts val="2850"/>
              </a:lnSpc>
              <a:buSzPct val="100000"/>
              <a:buFont typeface="+mj-lt"/>
              <a:buAutoNum type="arabicPeriod"/>
            </a:pPr>
            <a:r>
              <a:rPr lang="en-US" sz="1750" dirty="0">
                <a:solidFill>
                  <a:srgbClr val="504C49"/>
                </a:solidFill>
                <a:latin typeface="Source Serif 4" pitchFamily="34" charset="0"/>
                <a:ea typeface="Source Serif 4" pitchFamily="34" charset="-122"/>
                <a:cs typeface="Source Serif 4" pitchFamily="34" charset="-120"/>
              </a:rPr>
              <a:t>- What is driving the changes in Jim Beam’s sales performance over time?</a:t>
            </a:r>
          </a:p>
          <a:p>
            <a:pPr marL="342900" indent="-342900">
              <a:lnSpc>
                <a:spcPts val="2850"/>
              </a:lnSpc>
              <a:buSzPct val="100000"/>
              <a:buFont typeface="+mj-lt"/>
              <a:buAutoNum type="arabicPeriod"/>
            </a:pPr>
            <a:r>
              <a:rPr lang="en-US" sz="1750" dirty="0">
                <a:solidFill>
                  <a:srgbClr val="504C49"/>
                </a:solidFill>
                <a:latin typeface="Source Serif 4" pitchFamily="34" charset="0"/>
                <a:ea typeface="Source Serif 4" pitchFamily="34" charset="-122"/>
                <a:cs typeface="Source Serif 4" pitchFamily="34" charset="-120"/>
              </a:rPr>
              <a:t>- Is the decline in sales caused by overall market trends or internal performance issues?</a:t>
            </a:r>
          </a:p>
          <a:p>
            <a:pPr marL="342900" indent="-342900">
              <a:lnSpc>
                <a:spcPts val="2850"/>
              </a:lnSpc>
              <a:buSzPct val="100000"/>
              <a:buFont typeface="+mj-lt"/>
              <a:buAutoNum type="arabicPeriod"/>
            </a:pPr>
            <a:r>
              <a:rPr lang="en-US" sz="1750" dirty="0">
                <a:solidFill>
                  <a:srgbClr val="504C49"/>
                </a:solidFill>
                <a:latin typeface="Source Serif 4" pitchFamily="34" charset="0"/>
                <a:ea typeface="Source Serif 4" pitchFamily="34" charset="-122"/>
                <a:cs typeface="Source Serif 4" pitchFamily="34" charset="-120"/>
              </a:rPr>
              <a:t>- How does Jim Beam perform relative to its competitors in top stores?</a:t>
            </a:r>
          </a:p>
          <a:p>
            <a:pPr marL="342900" indent="-342900">
              <a:lnSpc>
                <a:spcPts val="2850"/>
              </a:lnSpc>
              <a:buSzPct val="100000"/>
              <a:buFont typeface="+mj-lt"/>
              <a:buAutoNum type="arabicPeriod"/>
            </a:pPr>
            <a:r>
              <a:rPr lang="en-US" sz="1750" dirty="0">
                <a:solidFill>
                  <a:srgbClr val="504C49"/>
                </a:solidFill>
                <a:latin typeface="Source Serif 4" pitchFamily="34" charset="0"/>
                <a:ea typeface="Source Serif 4" pitchFamily="34" charset="-122"/>
                <a:cs typeface="Source Serif 4" pitchFamily="34" charset="-120"/>
              </a:rPr>
              <a:t>- Is performance driven more by transaction volume or customer spending behavior?</a:t>
            </a:r>
          </a:p>
          <a:p>
            <a:pPr marL="342900" indent="-342900">
              <a:lnSpc>
                <a:spcPts val="2850"/>
              </a:lnSpc>
              <a:buSzPct val="100000"/>
              <a:buFont typeface="+mj-lt"/>
              <a:buAutoNum type="arabicPeriod"/>
            </a:pPr>
            <a:r>
              <a:rPr lang="en-US" sz="1750" dirty="0">
                <a:solidFill>
                  <a:srgbClr val="504C49"/>
                </a:solidFill>
                <a:latin typeface="Source Serif 4" pitchFamily="34" charset="0"/>
                <a:ea typeface="Source Serif 4" pitchFamily="34" charset="-122"/>
                <a:cs typeface="Source Serif 4" pitchFamily="34" charset="-120"/>
              </a:rPr>
              <a:t>- Where are the key strengths, weaknesses, and growth opportunities for Jim Beam in this market?</a:t>
            </a:r>
            <a:endParaRPr lang="en-US" sz="1750" dirty="0"/>
          </a:p>
        </p:txBody>
      </p:sp>
      <p:sp>
        <p:nvSpPr>
          <p:cNvPr id="5" name="Rectangle 4">
            <a:extLst>
              <a:ext uri="{FF2B5EF4-FFF2-40B4-BE49-F238E27FC236}">
                <a16:creationId xmlns:a16="http://schemas.microsoft.com/office/drawing/2014/main" id="{9A48A37D-58A0-A368-8FC3-D88C32C7E54A}"/>
              </a:ext>
            </a:extLst>
          </p:cNvPr>
          <p:cNvSpPr/>
          <p:nvPr/>
        </p:nvSpPr>
        <p:spPr>
          <a:xfrm>
            <a:off x="12788721" y="7508383"/>
            <a:ext cx="1841679" cy="7212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06993" y="595193"/>
            <a:ext cx="11328916" cy="631269"/>
          </a:xfrm>
          <a:prstGeom prst="rect">
            <a:avLst/>
          </a:prstGeom>
          <a:noFill/>
          <a:ln/>
        </p:spPr>
        <p:txBody>
          <a:bodyPr wrap="none" lIns="0" tIns="0" rIns="0" bIns="0" rtlCol="0" anchor="t"/>
          <a:lstStyle/>
          <a:p>
            <a:pPr marL="0" indent="0" algn="l">
              <a:lnSpc>
                <a:spcPts val="4950"/>
              </a:lnSpc>
              <a:buNone/>
            </a:pPr>
            <a:r>
              <a:rPr lang="en-US" sz="3950" dirty="0">
                <a:solidFill>
                  <a:srgbClr val="201B18"/>
                </a:solidFill>
                <a:latin typeface="Platypi Medium" pitchFamily="34" charset="0"/>
                <a:ea typeface="Platypi Medium" pitchFamily="34" charset="-122"/>
                <a:cs typeface="Platypi Medium" pitchFamily="34" charset="-120"/>
              </a:rPr>
              <a:t>Summary Statistics: Where Jim Beam Stands</a:t>
            </a:r>
            <a:endParaRPr lang="en-US" sz="3950" dirty="0"/>
          </a:p>
        </p:txBody>
      </p:sp>
      <p:sp>
        <p:nvSpPr>
          <p:cNvPr id="3" name="Text 1"/>
          <p:cNvSpPr/>
          <p:nvPr/>
        </p:nvSpPr>
        <p:spPr>
          <a:xfrm>
            <a:off x="706993" y="1687235"/>
            <a:ext cx="6495812" cy="666631"/>
          </a:xfrm>
          <a:prstGeom prst="rect">
            <a:avLst/>
          </a:prstGeom>
          <a:noFill/>
          <a:ln/>
        </p:spPr>
        <p:txBody>
          <a:bodyPr wrap="none" lIns="0" tIns="0" rIns="0" bIns="0" rtlCol="0" anchor="t"/>
          <a:lstStyle/>
          <a:p>
            <a:pPr marL="0" indent="0" algn="ctr">
              <a:lnSpc>
                <a:spcPts val="5200"/>
              </a:lnSpc>
              <a:buNone/>
            </a:pPr>
            <a:r>
              <a:rPr lang="en-US" sz="5200" dirty="0">
                <a:solidFill>
                  <a:srgbClr val="504C49"/>
                </a:solidFill>
                <a:latin typeface="Platypi Medium" pitchFamily="34" charset="0"/>
                <a:ea typeface="Platypi Medium" pitchFamily="34" charset="-122"/>
                <a:cs typeface="Platypi Medium" pitchFamily="34" charset="-120"/>
              </a:rPr>
              <a:t>4th</a:t>
            </a:r>
            <a:endParaRPr lang="en-US" sz="5200" dirty="0"/>
          </a:p>
        </p:txBody>
      </p:sp>
      <p:sp>
        <p:nvSpPr>
          <p:cNvPr id="4" name="Text 2"/>
          <p:cNvSpPr/>
          <p:nvPr/>
        </p:nvSpPr>
        <p:spPr>
          <a:xfrm>
            <a:off x="2692241" y="2589728"/>
            <a:ext cx="2525197" cy="315635"/>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Vendor Rank</a:t>
            </a:r>
            <a:endParaRPr lang="en-US" sz="1950" dirty="0"/>
          </a:p>
        </p:txBody>
      </p:sp>
      <p:sp>
        <p:nvSpPr>
          <p:cNvPr id="5" name="Text 3"/>
          <p:cNvSpPr/>
          <p:nvPr/>
        </p:nvSpPr>
        <p:spPr>
          <a:xfrm>
            <a:off x="706993" y="3013234"/>
            <a:ext cx="6495812" cy="611029"/>
          </a:xfrm>
          <a:prstGeom prst="rect">
            <a:avLst/>
          </a:prstGeom>
          <a:noFill/>
          <a:ln/>
        </p:spPr>
        <p:txBody>
          <a:bodyPr wrap="square" lIns="0" tIns="0" rIns="0" bIns="0" rtlCol="0" anchor="t"/>
          <a:lstStyle/>
          <a:p>
            <a:pPr marL="0" indent="0" algn="ctr">
              <a:lnSpc>
                <a:spcPts val="2400"/>
              </a:lnSpc>
              <a:buNone/>
            </a:pPr>
            <a:r>
              <a:rPr lang="en-US" sz="1550" dirty="0">
                <a:solidFill>
                  <a:srgbClr val="504C49"/>
                </a:solidFill>
                <a:latin typeface="Source Serif 4" pitchFamily="34" charset="0"/>
                <a:ea typeface="Source Serif 4" pitchFamily="34" charset="-122"/>
                <a:cs typeface="Source Serif 4" pitchFamily="34" charset="-120"/>
              </a:rPr>
              <a:t>Out of major Iowa liquor vendors — behind Diageo, Sazerac, and Pernod Ricard</a:t>
            </a:r>
            <a:endParaRPr lang="en-US" sz="1550" dirty="0"/>
          </a:p>
        </p:txBody>
      </p:sp>
      <p:sp>
        <p:nvSpPr>
          <p:cNvPr id="6" name="Text 4"/>
          <p:cNvSpPr/>
          <p:nvPr/>
        </p:nvSpPr>
        <p:spPr>
          <a:xfrm>
            <a:off x="7427595" y="1687235"/>
            <a:ext cx="6495812" cy="666631"/>
          </a:xfrm>
          <a:prstGeom prst="rect">
            <a:avLst/>
          </a:prstGeom>
          <a:noFill/>
          <a:ln/>
        </p:spPr>
        <p:txBody>
          <a:bodyPr wrap="none" lIns="0" tIns="0" rIns="0" bIns="0" rtlCol="0" anchor="t"/>
          <a:lstStyle/>
          <a:p>
            <a:pPr marL="0" indent="0" algn="ctr">
              <a:lnSpc>
                <a:spcPts val="5200"/>
              </a:lnSpc>
              <a:buNone/>
            </a:pPr>
            <a:r>
              <a:rPr lang="en-US" sz="5200" dirty="0">
                <a:solidFill>
                  <a:srgbClr val="504C49"/>
                </a:solidFill>
                <a:latin typeface="Platypi Medium" pitchFamily="34" charset="0"/>
                <a:ea typeface="Platypi Medium" pitchFamily="34" charset="-122"/>
                <a:cs typeface="Platypi Medium" pitchFamily="34" charset="-120"/>
              </a:rPr>
              <a:t>$5.1M</a:t>
            </a:r>
            <a:endParaRPr lang="en-US" sz="5200" dirty="0"/>
          </a:p>
        </p:txBody>
      </p:sp>
      <p:sp>
        <p:nvSpPr>
          <p:cNvPr id="7" name="Text 5"/>
          <p:cNvSpPr/>
          <p:nvPr/>
        </p:nvSpPr>
        <p:spPr>
          <a:xfrm>
            <a:off x="9412843" y="2589728"/>
            <a:ext cx="2525197" cy="315635"/>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Total Revenue</a:t>
            </a:r>
            <a:endParaRPr lang="en-US" sz="1950" dirty="0"/>
          </a:p>
        </p:txBody>
      </p:sp>
      <p:sp>
        <p:nvSpPr>
          <p:cNvPr id="8" name="Text 6"/>
          <p:cNvSpPr/>
          <p:nvPr/>
        </p:nvSpPr>
        <p:spPr>
          <a:xfrm>
            <a:off x="7427595" y="3013234"/>
            <a:ext cx="6495812" cy="305514"/>
          </a:xfrm>
          <a:prstGeom prst="rect">
            <a:avLst/>
          </a:prstGeom>
          <a:noFill/>
          <a:ln/>
        </p:spPr>
        <p:txBody>
          <a:bodyPr wrap="none" lIns="0" tIns="0" rIns="0" bIns="0" rtlCol="0" anchor="t"/>
          <a:lstStyle/>
          <a:p>
            <a:pPr marL="0" indent="0" algn="ctr">
              <a:lnSpc>
                <a:spcPts val="2400"/>
              </a:lnSpc>
              <a:buNone/>
            </a:pPr>
            <a:r>
              <a:rPr lang="en-US" sz="1550" dirty="0">
                <a:solidFill>
                  <a:srgbClr val="504C49"/>
                </a:solidFill>
                <a:latin typeface="Source Serif 4" pitchFamily="34" charset="0"/>
                <a:ea typeface="Source Serif 4" pitchFamily="34" charset="-122"/>
                <a:cs typeface="Source Serif 4" pitchFamily="34" charset="-120"/>
              </a:rPr>
              <a:t>Significant gap to leader Diageo Americas at $14.4M</a:t>
            </a:r>
            <a:endParaRPr lang="en-US" sz="1550" dirty="0"/>
          </a:p>
        </p:txBody>
      </p:sp>
      <p:sp>
        <p:nvSpPr>
          <p:cNvPr id="9" name="Text 7"/>
          <p:cNvSpPr/>
          <p:nvPr/>
        </p:nvSpPr>
        <p:spPr>
          <a:xfrm>
            <a:off x="706993" y="4085034"/>
            <a:ext cx="6495812" cy="666631"/>
          </a:xfrm>
          <a:prstGeom prst="rect">
            <a:avLst/>
          </a:prstGeom>
          <a:noFill/>
          <a:ln/>
        </p:spPr>
        <p:txBody>
          <a:bodyPr wrap="none" lIns="0" tIns="0" rIns="0" bIns="0" rtlCol="0" anchor="t"/>
          <a:lstStyle/>
          <a:p>
            <a:pPr marL="0" indent="0" algn="ctr">
              <a:lnSpc>
                <a:spcPts val="5200"/>
              </a:lnSpc>
              <a:buNone/>
            </a:pPr>
            <a:r>
              <a:rPr lang="en-US" sz="5200" dirty="0">
                <a:solidFill>
                  <a:srgbClr val="504C49"/>
                </a:solidFill>
                <a:latin typeface="Platypi Medium" pitchFamily="34" charset="0"/>
                <a:ea typeface="Platypi Medium" pitchFamily="34" charset="-122"/>
                <a:cs typeface="Platypi Medium" pitchFamily="34" charset="-120"/>
              </a:rPr>
              <a:t>~8%</a:t>
            </a:r>
            <a:endParaRPr lang="en-US" sz="5200" dirty="0"/>
          </a:p>
        </p:txBody>
      </p:sp>
      <p:sp>
        <p:nvSpPr>
          <p:cNvPr id="10" name="Text 8"/>
          <p:cNvSpPr/>
          <p:nvPr/>
        </p:nvSpPr>
        <p:spPr>
          <a:xfrm>
            <a:off x="2692241" y="4987528"/>
            <a:ext cx="2525197" cy="315635"/>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Avg. Market Share</a:t>
            </a:r>
            <a:endParaRPr lang="en-US" sz="1950" dirty="0"/>
          </a:p>
        </p:txBody>
      </p:sp>
      <p:sp>
        <p:nvSpPr>
          <p:cNvPr id="11" name="Text 9"/>
          <p:cNvSpPr/>
          <p:nvPr/>
        </p:nvSpPr>
        <p:spPr>
          <a:xfrm>
            <a:off x="706993" y="5411033"/>
            <a:ext cx="6495812" cy="305514"/>
          </a:xfrm>
          <a:prstGeom prst="rect">
            <a:avLst/>
          </a:prstGeom>
          <a:noFill/>
          <a:ln/>
        </p:spPr>
        <p:txBody>
          <a:bodyPr wrap="none" lIns="0" tIns="0" rIns="0" bIns="0" rtlCol="0" anchor="t"/>
          <a:lstStyle/>
          <a:p>
            <a:pPr marL="0" indent="0" algn="ctr">
              <a:lnSpc>
                <a:spcPts val="2400"/>
              </a:lnSpc>
              <a:buNone/>
            </a:pPr>
            <a:r>
              <a:rPr lang="en-US" sz="1550" dirty="0">
                <a:solidFill>
                  <a:srgbClr val="504C49"/>
                </a:solidFill>
                <a:latin typeface="Source Serif 4" pitchFamily="34" charset="0"/>
                <a:ea typeface="Source Serif 4" pitchFamily="34" charset="-122"/>
                <a:cs typeface="Source Serif 4" pitchFamily="34" charset="-120"/>
              </a:rPr>
              <a:t>Typical range of 7–9%, with peaks near 12% and lows near 6%</a:t>
            </a:r>
            <a:endParaRPr lang="en-US" sz="1550" dirty="0"/>
          </a:p>
        </p:txBody>
      </p:sp>
      <p:sp>
        <p:nvSpPr>
          <p:cNvPr id="12" name="Text 10"/>
          <p:cNvSpPr/>
          <p:nvPr/>
        </p:nvSpPr>
        <p:spPr>
          <a:xfrm>
            <a:off x="7427595" y="4085034"/>
            <a:ext cx="6495812" cy="666631"/>
          </a:xfrm>
          <a:prstGeom prst="rect">
            <a:avLst/>
          </a:prstGeom>
          <a:noFill/>
          <a:ln/>
        </p:spPr>
        <p:txBody>
          <a:bodyPr wrap="none" lIns="0" tIns="0" rIns="0" bIns="0" rtlCol="0" anchor="t"/>
          <a:lstStyle/>
          <a:p>
            <a:pPr marL="0" indent="0" algn="ctr">
              <a:lnSpc>
                <a:spcPts val="5200"/>
              </a:lnSpc>
              <a:buNone/>
            </a:pPr>
            <a:r>
              <a:rPr lang="en-US" sz="5200" dirty="0">
                <a:solidFill>
                  <a:srgbClr val="504C49"/>
                </a:solidFill>
                <a:latin typeface="Platypi Medium" pitchFamily="34" charset="0"/>
                <a:ea typeface="Platypi Medium" pitchFamily="34" charset="-122"/>
                <a:cs typeface="Platypi Medium" pitchFamily="34" charset="-120"/>
              </a:rPr>
              <a:t>~50%</a:t>
            </a:r>
            <a:endParaRPr lang="en-US" sz="5200" dirty="0"/>
          </a:p>
        </p:txBody>
      </p:sp>
      <p:sp>
        <p:nvSpPr>
          <p:cNvPr id="13" name="Text 11"/>
          <p:cNvSpPr/>
          <p:nvPr/>
        </p:nvSpPr>
        <p:spPr>
          <a:xfrm>
            <a:off x="9412843" y="4987528"/>
            <a:ext cx="2525197" cy="315635"/>
          </a:xfrm>
          <a:prstGeom prst="rect">
            <a:avLst/>
          </a:prstGeom>
          <a:noFill/>
          <a:ln/>
        </p:spPr>
        <p:txBody>
          <a:bodyPr wrap="none" lIns="0" tIns="0" rIns="0" bIns="0" rtlCol="0" anchor="t"/>
          <a:lstStyle/>
          <a:p>
            <a:pPr marL="0" indent="0" algn="ctr">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Summer Drop</a:t>
            </a:r>
            <a:endParaRPr lang="en-US" sz="1950" dirty="0"/>
          </a:p>
        </p:txBody>
      </p:sp>
      <p:sp>
        <p:nvSpPr>
          <p:cNvPr id="14" name="Text 12"/>
          <p:cNvSpPr/>
          <p:nvPr/>
        </p:nvSpPr>
        <p:spPr>
          <a:xfrm>
            <a:off x="7427595" y="5411033"/>
            <a:ext cx="6495812" cy="305514"/>
          </a:xfrm>
          <a:prstGeom prst="rect">
            <a:avLst/>
          </a:prstGeom>
          <a:noFill/>
          <a:ln/>
        </p:spPr>
        <p:txBody>
          <a:bodyPr wrap="none" lIns="0" tIns="0" rIns="0" bIns="0" rtlCol="0" anchor="t"/>
          <a:lstStyle/>
          <a:p>
            <a:pPr marL="0" indent="0" algn="ctr">
              <a:lnSpc>
                <a:spcPts val="2400"/>
              </a:lnSpc>
              <a:buNone/>
            </a:pPr>
            <a:r>
              <a:rPr lang="en-US" sz="1550" dirty="0">
                <a:solidFill>
                  <a:srgbClr val="504C49"/>
                </a:solidFill>
                <a:latin typeface="Source Serif 4" pitchFamily="34" charset="0"/>
                <a:ea typeface="Source Serif 4" pitchFamily="34" charset="-122"/>
                <a:cs typeface="Source Serif 4" pitchFamily="34" charset="-120"/>
              </a:rPr>
              <a:t>Transaction volume decline during June–July seasonal trough</a:t>
            </a:r>
            <a:endParaRPr lang="en-US" sz="1550" dirty="0"/>
          </a:p>
        </p:txBody>
      </p:sp>
      <p:sp>
        <p:nvSpPr>
          <p:cNvPr id="18" name="Rectangle 17">
            <a:extLst>
              <a:ext uri="{FF2B5EF4-FFF2-40B4-BE49-F238E27FC236}">
                <a16:creationId xmlns:a16="http://schemas.microsoft.com/office/drawing/2014/main" id="{C8D2F933-3DFB-271F-3FD6-3D0131ABF18E}"/>
              </a:ext>
            </a:extLst>
          </p:cNvPr>
          <p:cNvSpPr/>
          <p:nvPr/>
        </p:nvSpPr>
        <p:spPr>
          <a:xfrm>
            <a:off x="12788721" y="7508383"/>
            <a:ext cx="1841679" cy="72121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3402449" y="1270635"/>
            <a:ext cx="1045488" cy="176689"/>
          </a:xfrm>
          <a:prstGeom prst="roundRect">
            <a:avLst>
              <a:gd name="adj" fmla="val 7703"/>
            </a:avLst>
          </a:prstGeom>
          <a:solidFill>
            <a:srgbClr val="F3E3D8"/>
          </a:solidFill>
          <a:ln/>
        </p:spPr>
        <p:txBody>
          <a:bodyPr/>
          <a:lstStyle/>
          <a:p>
            <a:endParaRPr lang="en-US"/>
          </a:p>
        </p:txBody>
      </p:sp>
      <p:sp>
        <p:nvSpPr>
          <p:cNvPr id="3" name="Text 1"/>
          <p:cNvSpPr/>
          <p:nvPr/>
        </p:nvSpPr>
        <p:spPr>
          <a:xfrm>
            <a:off x="3470434" y="1304568"/>
            <a:ext cx="909518" cy="108823"/>
          </a:xfrm>
          <a:prstGeom prst="rect">
            <a:avLst/>
          </a:prstGeom>
          <a:noFill/>
          <a:ln/>
        </p:spPr>
        <p:txBody>
          <a:bodyPr wrap="none" lIns="0" tIns="0" rIns="0" bIns="0" rtlCol="0" anchor="t"/>
          <a:lstStyle/>
          <a:p>
            <a:pPr marL="0" indent="0" algn="l">
              <a:lnSpc>
                <a:spcPts val="850"/>
              </a:lnSpc>
              <a:buNone/>
            </a:pPr>
            <a:r>
              <a:rPr lang="en-US" sz="700" dirty="0">
                <a:solidFill>
                  <a:srgbClr val="504C49"/>
                </a:solidFill>
                <a:latin typeface="Source Serif 4" pitchFamily="34" charset="0"/>
                <a:ea typeface="Source Serif 4" pitchFamily="34" charset="-122"/>
                <a:cs typeface="Source Serif 4" pitchFamily="34" charset="-120"/>
              </a:rPr>
              <a:t>SWOT — STRENGTHS</a:t>
            </a:r>
            <a:endParaRPr lang="en-US" sz="700" dirty="0"/>
          </a:p>
        </p:txBody>
      </p:sp>
      <p:sp>
        <p:nvSpPr>
          <p:cNvPr id="4" name="Text 2"/>
          <p:cNvSpPr/>
          <p:nvPr/>
        </p:nvSpPr>
        <p:spPr>
          <a:xfrm>
            <a:off x="3402449" y="1469946"/>
            <a:ext cx="4845368"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Strength 1: Strong Market Position</a:t>
            </a:r>
            <a:endParaRPr lang="en-US" sz="2200" dirty="0"/>
          </a:p>
        </p:txBody>
      </p:sp>
      <p:sp>
        <p:nvSpPr>
          <p:cNvPr id="5" name="Text 3"/>
          <p:cNvSpPr/>
          <p:nvPr/>
        </p:nvSpPr>
        <p:spPr>
          <a:xfrm>
            <a:off x="3402449" y="1909286"/>
            <a:ext cx="7825502" cy="603647"/>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Jim Beam ranks 4th among major Iowa liquor vendors</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$5.1M in total revenue demonstrates established market presence</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Top-4 position indicates strong brand recognition and shelf presence</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Competitive positioning provides foundation for growth</a:t>
            </a:r>
            <a:endParaRPr lang="en-US" sz="850" dirty="0"/>
          </a:p>
        </p:txBody>
      </p:sp>
      <p:graphicFrame>
        <p:nvGraphicFramePr>
          <p:cNvPr id="7" name="Chart 6">
            <a:extLst>
              <a:ext uri="{FF2B5EF4-FFF2-40B4-BE49-F238E27FC236}">
                <a16:creationId xmlns:a16="http://schemas.microsoft.com/office/drawing/2014/main" id="{9B8CF927-2483-E378-24F5-263D612C6344}"/>
              </a:ext>
            </a:extLst>
          </p:cNvPr>
          <p:cNvGraphicFramePr>
            <a:graphicFrameLocks/>
          </p:cNvGraphicFramePr>
          <p:nvPr>
            <p:extLst>
              <p:ext uri="{D42A27DB-BD31-4B8C-83A1-F6EECF244321}">
                <p14:modId xmlns:p14="http://schemas.microsoft.com/office/powerpoint/2010/main" val="3418091525"/>
              </p:ext>
            </p:extLst>
          </p:nvPr>
        </p:nvGraphicFramePr>
        <p:xfrm>
          <a:off x="3212766" y="2893261"/>
          <a:ext cx="5702300" cy="443230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a:extLst>
              <a:ext uri="{FF2B5EF4-FFF2-40B4-BE49-F238E27FC236}">
                <a16:creationId xmlns:a16="http://schemas.microsoft.com/office/drawing/2014/main" id="{33026F1E-C187-CF4F-D39D-A08FA510083F}"/>
              </a:ext>
            </a:extLst>
          </p:cNvPr>
          <p:cNvSpPr/>
          <p:nvPr/>
        </p:nvSpPr>
        <p:spPr>
          <a:xfrm>
            <a:off x="12788721" y="7508383"/>
            <a:ext cx="1841679" cy="72121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3402449" y="1270635"/>
            <a:ext cx="1045488" cy="176689"/>
          </a:xfrm>
          <a:prstGeom prst="roundRect">
            <a:avLst>
              <a:gd name="adj" fmla="val 7703"/>
            </a:avLst>
          </a:prstGeom>
          <a:solidFill>
            <a:srgbClr val="F3E3D8"/>
          </a:solidFill>
          <a:ln/>
        </p:spPr>
        <p:txBody>
          <a:bodyPr/>
          <a:lstStyle/>
          <a:p>
            <a:endParaRPr lang="en-US"/>
          </a:p>
        </p:txBody>
      </p:sp>
      <p:sp>
        <p:nvSpPr>
          <p:cNvPr id="3" name="Text 1"/>
          <p:cNvSpPr/>
          <p:nvPr/>
        </p:nvSpPr>
        <p:spPr>
          <a:xfrm>
            <a:off x="3470434" y="1304568"/>
            <a:ext cx="909518" cy="108823"/>
          </a:xfrm>
          <a:prstGeom prst="rect">
            <a:avLst/>
          </a:prstGeom>
          <a:noFill/>
          <a:ln/>
        </p:spPr>
        <p:txBody>
          <a:bodyPr wrap="none" lIns="0" tIns="0" rIns="0" bIns="0" rtlCol="0" anchor="t"/>
          <a:lstStyle/>
          <a:p>
            <a:pPr marL="0" indent="0" algn="l">
              <a:lnSpc>
                <a:spcPts val="850"/>
              </a:lnSpc>
              <a:buNone/>
            </a:pPr>
            <a:r>
              <a:rPr lang="en-US" sz="700" dirty="0">
                <a:solidFill>
                  <a:srgbClr val="504C49"/>
                </a:solidFill>
                <a:latin typeface="Source Serif 4" pitchFamily="34" charset="0"/>
                <a:ea typeface="Source Serif 4" pitchFamily="34" charset="-122"/>
                <a:cs typeface="Source Serif 4" pitchFamily="34" charset="-120"/>
              </a:rPr>
              <a:t>SWOT — STRENGTHS</a:t>
            </a:r>
            <a:endParaRPr lang="en-US" sz="700" dirty="0"/>
          </a:p>
        </p:txBody>
      </p:sp>
      <p:sp>
        <p:nvSpPr>
          <p:cNvPr id="4" name="Text 2"/>
          <p:cNvSpPr/>
          <p:nvPr/>
        </p:nvSpPr>
        <p:spPr>
          <a:xfrm>
            <a:off x="3402449" y="1469946"/>
            <a:ext cx="4312087"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Strength 2: Market Correlation</a:t>
            </a:r>
            <a:endParaRPr lang="en-US" sz="2200" dirty="0"/>
          </a:p>
        </p:txBody>
      </p:sp>
      <p:sp>
        <p:nvSpPr>
          <p:cNvPr id="5" name="Text 3"/>
          <p:cNvSpPr/>
          <p:nvPr/>
        </p:nvSpPr>
        <p:spPr>
          <a:xfrm>
            <a:off x="3402448" y="1909286"/>
            <a:ext cx="8008233" cy="1071872"/>
          </a:xfrm>
          <a:prstGeom prst="rect">
            <a:avLst/>
          </a:prstGeom>
          <a:noFill/>
          <a:ln/>
        </p:spPr>
        <p:txBody>
          <a:bodyPr wrap="square" lIns="0" tIns="0" rIns="0" bIns="0" rtlCol="0" anchor="t"/>
          <a:lstStyle/>
          <a:p>
            <a:pPr marL="342900" indent="-342900" algn="l">
              <a:lnSpc>
                <a:spcPts val="1050"/>
              </a:lnSpc>
              <a:buSzPct val="100000"/>
              <a:buChar char="•"/>
            </a:pPr>
            <a:r>
              <a:rPr lang="en-US" sz="1200" dirty="0">
                <a:solidFill>
                  <a:srgbClr val="504C49"/>
                </a:solidFill>
                <a:latin typeface="Source Serif 4" pitchFamily="34" charset="0"/>
                <a:ea typeface="Source Serif 4" pitchFamily="34" charset="-122"/>
                <a:cs typeface="Source Serif 4" pitchFamily="34" charset="-120"/>
              </a:rPr>
              <a:t>Jim Beam's revenue closely tracks overall market demand</a:t>
            </a:r>
            <a:endParaRPr lang="en-US" sz="1200" dirty="0"/>
          </a:p>
          <a:p>
            <a:pPr marL="342900" indent="-342900" algn="l">
              <a:lnSpc>
                <a:spcPts val="1050"/>
              </a:lnSpc>
              <a:buSzPct val="100000"/>
              <a:buChar char="•"/>
            </a:pPr>
            <a:r>
              <a:rPr lang="en-US" sz="1200" dirty="0">
                <a:solidFill>
                  <a:srgbClr val="504C49"/>
                </a:solidFill>
                <a:latin typeface="Source Serif 4" pitchFamily="34" charset="0"/>
                <a:ea typeface="Source Serif 4" pitchFamily="34" charset="-122"/>
                <a:cs typeface="Source Serif 4" pitchFamily="34" charset="-120"/>
              </a:rPr>
              <a:t>When the category grows, Jim Beam benefits proportionally</a:t>
            </a:r>
            <a:endParaRPr lang="en-US" sz="1200" dirty="0"/>
          </a:p>
          <a:p>
            <a:pPr marL="342900" indent="-342900" algn="l">
              <a:lnSpc>
                <a:spcPts val="1050"/>
              </a:lnSpc>
              <a:buSzPct val="100000"/>
              <a:buChar char="•"/>
            </a:pPr>
            <a:r>
              <a:rPr lang="en-US" sz="1200" dirty="0">
                <a:solidFill>
                  <a:srgbClr val="504C49"/>
                </a:solidFill>
                <a:latin typeface="Source Serif 4" pitchFamily="34" charset="0"/>
                <a:ea typeface="Source Serif 4" pitchFamily="34" charset="-122"/>
                <a:cs typeface="Source Serif 4" pitchFamily="34" charset="-120"/>
              </a:rPr>
              <a:t>Strong correlation indicates brand is a go-to choice during peak demand periods</a:t>
            </a:r>
            <a:endParaRPr lang="en-US" sz="1200" dirty="0"/>
          </a:p>
          <a:p>
            <a:pPr marL="342900" indent="-342900" algn="l">
              <a:lnSpc>
                <a:spcPts val="1050"/>
              </a:lnSpc>
              <a:buSzPct val="100000"/>
              <a:buChar char="•"/>
            </a:pPr>
            <a:r>
              <a:rPr lang="en-US" sz="1200" dirty="0">
                <a:solidFill>
                  <a:srgbClr val="504C49"/>
                </a:solidFill>
                <a:latin typeface="Source Serif 4" pitchFamily="34" charset="0"/>
                <a:ea typeface="Source Serif 4" pitchFamily="34" charset="-122"/>
                <a:cs typeface="Source Serif 4" pitchFamily="34" charset="-120"/>
              </a:rPr>
              <a:t>Market alignment provides predictable revenue during favorable conditions</a:t>
            </a:r>
            <a:endParaRPr lang="en-US" sz="1200" dirty="0"/>
          </a:p>
        </p:txBody>
      </p:sp>
      <p:graphicFrame>
        <p:nvGraphicFramePr>
          <p:cNvPr id="13" name="Chart 12">
            <a:extLst>
              <a:ext uri="{FF2B5EF4-FFF2-40B4-BE49-F238E27FC236}">
                <a16:creationId xmlns:a16="http://schemas.microsoft.com/office/drawing/2014/main" id="{3E59680D-6A6D-3548-3BC0-AD0631D0752E}"/>
              </a:ext>
            </a:extLst>
          </p:cNvPr>
          <p:cNvGraphicFramePr>
            <a:graphicFrameLocks/>
          </p:cNvGraphicFramePr>
          <p:nvPr>
            <p:extLst>
              <p:ext uri="{D42A27DB-BD31-4B8C-83A1-F6EECF244321}">
                <p14:modId xmlns:p14="http://schemas.microsoft.com/office/powerpoint/2010/main" val="887581391"/>
              </p:ext>
            </p:extLst>
          </p:nvPr>
        </p:nvGraphicFramePr>
        <p:xfrm>
          <a:off x="3402449" y="2981158"/>
          <a:ext cx="6775450" cy="4673600"/>
        </p:xfrm>
        <a:graphic>
          <a:graphicData uri="http://schemas.openxmlformats.org/drawingml/2006/chart">
            <c:chart xmlns:c="http://schemas.openxmlformats.org/drawingml/2006/chart" xmlns:r="http://schemas.openxmlformats.org/officeDocument/2006/relationships" r:id="rId3"/>
          </a:graphicData>
        </a:graphic>
      </p:graphicFrame>
      <p:sp>
        <p:nvSpPr>
          <p:cNvPr id="14" name="Rectangle 13">
            <a:extLst>
              <a:ext uri="{FF2B5EF4-FFF2-40B4-BE49-F238E27FC236}">
                <a16:creationId xmlns:a16="http://schemas.microsoft.com/office/drawing/2014/main" id="{D39254F8-DEC9-883A-BB20-0DADBC603968}"/>
              </a:ext>
            </a:extLst>
          </p:cNvPr>
          <p:cNvSpPr/>
          <p:nvPr/>
        </p:nvSpPr>
        <p:spPr>
          <a:xfrm>
            <a:off x="12788721" y="7508383"/>
            <a:ext cx="1841679" cy="72121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3402449" y="1270635"/>
            <a:ext cx="1112639" cy="176689"/>
          </a:xfrm>
          <a:prstGeom prst="roundRect">
            <a:avLst>
              <a:gd name="adj" fmla="val 7703"/>
            </a:avLst>
          </a:prstGeom>
          <a:solidFill>
            <a:srgbClr val="F3E3D8"/>
          </a:solidFill>
          <a:ln/>
        </p:spPr>
        <p:txBody>
          <a:bodyPr/>
          <a:lstStyle/>
          <a:p>
            <a:endParaRPr lang="en-US"/>
          </a:p>
        </p:txBody>
      </p:sp>
      <p:sp>
        <p:nvSpPr>
          <p:cNvPr id="3" name="Text 1"/>
          <p:cNvSpPr/>
          <p:nvPr/>
        </p:nvSpPr>
        <p:spPr>
          <a:xfrm>
            <a:off x="3470434" y="1304568"/>
            <a:ext cx="976670" cy="108823"/>
          </a:xfrm>
          <a:prstGeom prst="rect">
            <a:avLst/>
          </a:prstGeom>
          <a:noFill/>
          <a:ln/>
        </p:spPr>
        <p:txBody>
          <a:bodyPr wrap="none" lIns="0" tIns="0" rIns="0" bIns="0" rtlCol="0" anchor="t"/>
          <a:lstStyle/>
          <a:p>
            <a:pPr marL="0" indent="0" algn="l">
              <a:lnSpc>
                <a:spcPts val="850"/>
              </a:lnSpc>
              <a:buNone/>
            </a:pPr>
            <a:r>
              <a:rPr lang="en-US" sz="700" dirty="0">
                <a:solidFill>
                  <a:srgbClr val="504C49"/>
                </a:solidFill>
                <a:latin typeface="Source Serif 4" pitchFamily="34" charset="0"/>
                <a:ea typeface="Source Serif 4" pitchFamily="34" charset="-122"/>
                <a:cs typeface="Source Serif 4" pitchFamily="34" charset="-120"/>
              </a:rPr>
              <a:t>SWOT — WEAKNESSES</a:t>
            </a:r>
            <a:endParaRPr lang="en-US" sz="700" dirty="0"/>
          </a:p>
        </p:txBody>
      </p:sp>
      <p:sp>
        <p:nvSpPr>
          <p:cNvPr id="4" name="Text 2"/>
          <p:cNvSpPr/>
          <p:nvPr/>
        </p:nvSpPr>
        <p:spPr>
          <a:xfrm>
            <a:off x="3402449" y="1469946"/>
            <a:ext cx="5085636"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Weakness 1: Revenue Gap to Leaders</a:t>
            </a:r>
            <a:endParaRPr lang="en-US" sz="2200" dirty="0"/>
          </a:p>
        </p:txBody>
      </p:sp>
      <p:sp>
        <p:nvSpPr>
          <p:cNvPr id="5" name="Text 3"/>
          <p:cNvSpPr/>
          <p:nvPr/>
        </p:nvSpPr>
        <p:spPr>
          <a:xfrm>
            <a:off x="3402449" y="1909286"/>
            <a:ext cx="7825502" cy="603647"/>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Jim Beam generates $5.1M vs. Diageo's $14.4M — only 35% of market leader revenue</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Significant gap to Sazerac ($7.1M) and Pernod Ricard ($6M) limits competitive leverage</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Revenue gap reflects structural disadvantage in market influence and negotiating power</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Missed opportunity to capture greater share of growing category</a:t>
            </a:r>
            <a:endParaRPr lang="en-US" sz="850" dirty="0"/>
          </a:p>
        </p:txBody>
      </p:sp>
      <p:graphicFrame>
        <p:nvGraphicFramePr>
          <p:cNvPr id="7" name="Chart 6">
            <a:extLst>
              <a:ext uri="{FF2B5EF4-FFF2-40B4-BE49-F238E27FC236}">
                <a16:creationId xmlns:a16="http://schemas.microsoft.com/office/drawing/2014/main" id="{9B8CF927-2483-E378-24F5-263D612C6344}"/>
              </a:ext>
            </a:extLst>
          </p:cNvPr>
          <p:cNvGraphicFramePr>
            <a:graphicFrameLocks/>
          </p:cNvGraphicFramePr>
          <p:nvPr>
            <p:extLst>
              <p:ext uri="{D42A27DB-BD31-4B8C-83A1-F6EECF244321}">
                <p14:modId xmlns:p14="http://schemas.microsoft.com/office/powerpoint/2010/main" val="2900151853"/>
              </p:ext>
            </p:extLst>
          </p:nvPr>
        </p:nvGraphicFramePr>
        <p:xfrm>
          <a:off x="3402449" y="3053681"/>
          <a:ext cx="5702300" cy="4432300"/>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a:extLst>
              <a:ext uri="{FF2B5EF4-FFF2-40B4-BE49-F238E27FC236}">
                <a16:creationId xmlns:a16="http://schemas.microsoft.com/office/drawing/2014/main" id="{526DF475-AA72-EC34-5129-87874BC857EA}"/>
              </a:ext>
            </a:extLst>
          </p:cNvPr>
          <p:cNvSpPr/>
          <p:nvPr/>
        </p:nvSpPr>
        <p:spPr>
          <a:xfrm>
            <a:off x="12788721" y="7508383"/>
            <a:ext cx="1841679" cy="72121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3402449" y="1270635"/>
            <a:ext cx="1112639" cy="176689"/>
          </a:xfrm>
          <a:prstGeom prst="roundRect">
            <a:avLst>
              <a:gd name="adj" fmla="val 7703"/>
            </a:avLst>
          </a:prstGeom>
          <a:solidFill>
            <a:srgbClr val="F3E3D8"/>
          </a:solidFill>
          <a:ln/>
        </p:spPr>
        <p:txBody>
          <a:bodyPr/>
          <a:lstStyle/>
          <a:p>
            <a:endParaRPr lang="en-US"/>
          </a:p>
        </p:txBody>
      </p:sp>
      <p:sp>
        <p:nvSpPr>
          <p:cNvPr id="3" name="Text 1"/>
          <p:cNvSpPr/>
          <p:nvPr/>
        </p:nvSpPr>
        <p:spPr>
          <a:xfrm>
            <a:off x="3470434" y="1304568"/>
            <a:ext cx="976670" cy="108823"/>
          </a:xfrm>
          <a:prstGeom prst="rect">
            <a:avLst/>
          </a:prstGeom>
          <a:noFill/>
          <a:ln/>
        </p:spPr>
        <p:txBody>
          <a:bodyPr wrap="none" lIns="0" tIns="0" rIns="0" bIns="0" rtlCol="0" anchor="t"/>
          <a:lstStyle/>
          <a:p>
            <a:pPr marL="0" indent="0" algn="l">
              <a:lnSpc>
                <a:spcPts val="850"/>
              </a:lnSpc>
              <a:buNone/>
            </a:pPr>
            <a:r>
              <a:rPr lang="en-US" sz="700" dirty="0">
                <a:solidFill>
                  <a:srgbClr val="504C49"/>
                </a:solidFill>
                <a:latin typeface="Source Serif 4" pitchFamily="34" charset="0"/>
                <a:ea typeface="Source Serif 4" pitchFamily="34" charset="-122"/>
                <a:cs typeface="Source Serif 4" pitchFamily="34" charset="-120"/>
              </a:rPr>
              <a:t>SWOT — WEAKNESSES</a:t>
            </a:r>
            <a:endParaRPr lang="en-US" sz="700" dirty="0"/>
          </a:p>
        </p:txBody>
      </p:sp>
      <p:sp>
        <p:nvSpPr>
          <p:cNvPr id="4" name="Text 2"/>
          <p:cNvSpPr/>
          <p:nvPr/>
        </p:nvSpPr>
        <p:spPr>
          <a:xfrm>
            <a:off x="3402449" y="1469946"/>
            <a:ext cx="5014198"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Weakness 2: Unstable Market Share</a:t>
            </a:r>
            <a:endParaRPr lang="en-US" sz="2200" dirty="0"/>
          </a:p>
        </p:txBody>
      </p:sp>
      <p:sp>
        <p:nvSpPr>
          <p:cNvPr id="5" name="Text 3"/>
          <p:cNvSpPr/>
          <p:nvPr/>
        </p:nvSpPr>
        <p:spPr>
          <a:xfrm>
            <a:off x="3402449" y="1909286"/>
            <a:ext cx="7825502" cy="603647"/>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Jim Beam's market share fluctuates between 6% and 12% — a 100% swing</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Peak share of ~12% occurs March–May; lows near 6% in other periods</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Inconsistent performance indicates reactive positioning, not stable brand loyalty</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Volatility suggests vulnerability to competitive pressure and market shifts</a:t>
            </a:r>
            <a:endParaRPr lang="en-US" sz="850" dirty="0"/>
          </a:p>
        </p:txBody>
      </p:sp>
      <p:graphicFrame>
        <p:nvGraphicFramePr>
          <p:cNvPr id="8" name="Chart 7">
            <a:extLst>
              <a:ext uri="{FF2B5EF4-FFF2-40B4-BE49-F238E27FC236}">
                <a16:creationId xmlns:a16="http://schemas.microsoft.com/office/drawing/2014/main" id="{07CD7A27-91C8-D12F-7FFB-BB40D56C847C}"/>
              </a:ext>
            </a:extLst>
          </p:cNvPr>
          <p:cNvGraphicFramePr>
            <a:graphicFrameLocks/>
          </p:cNvGraphicFramePr>
          <p:nvPr>
            <p:extLst>
              <p:ext uri="{D42A27DB-BD31-4B8C-83A1-F6EECF244321}">
                <p14:modId xmlns:p14="http://schemas.microsoft.com/office/powerpoint/2010/main" val="616734059"/>
              </p:ext>
            </p:extLst>
          </p:nvPr>
        </p:nvGraphicFramePr>
        <p:xfrm>
          <a:off x="3470434" y="3160294"/>
          <a:ext cx="5962324" cy="327259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08FCE1B5-B85B-609C-838F-03CC49A1F29D}"/>
              </a:ext>
            </a:extLst>
          </p:cNvPr>
          <p:cNvSpPr/>
          <p:nvPr/>
        </p:nvSpPr>
        <p:spPr>
          <a:xfrm>
            <a:off x="12788721" y="7508383"/>
            <a:ext cx="1841679" cy="72121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3402449" y="1034653"/>
            <a:ext cx="1235750" cy="176689"/>
          </a:xfrm>
          <a:prstGeom prst="roundRect">
            <a:avLst>
              <a:gd name="adj" fmla="val 7703"/>
            </a:avLst>
          </a:prstGeom>
          <a:solidFill>
            <a:srgbClr val="F3E3D8"/>
          </a:solidFill>
          <a:ln/>
        </p:spPr>
        <p:txBody>
          <a:bodyPr/>
          <a:lstStyle/>
          <a:p>
            <a:endParaRPr lang="en-US"/>
          </a:p>
        </p:txBody>
      </p:sp>
      <p:sp>
        <p:nvSpPr>
          <p:cNvPr id="3" name="Text 1"/>
          <p:cNvSpPr/>
          <p:nvPr/>
        </p:nvSpPr>
        <p:spPr>
          <a:xfrm>
            <a:off x="3470434" y="1068586"/>
            <a:ext cx="1099780" cy="108823"/>
          </a:xfrm>
          <a:prstGeom prst="rect">
            <a:avLst/>
          </a:prstGeom>
          <a:noFill/>
          <a:ln/>
        </p:spPr>
        <p:txBody>
          <a:bodyPr wrap="none" lIns="0" tIns="0" rIns="0" bIns="0" rtlCol="0" anchor="t"/>
          <a:lstStyle/>
          <a:p>
            <a:pPr marL="0" indent="0" algn="l">
              <a:lnSpc>
                <a:spcPts val="850"/>
              </a:lnSpc>
              <a:buNone/>
            </a:pPr>
            <a:r>
              <a:rPr lang="en-US" sz="700" dirty="0">
                <a:solidFill>
                  <a:srgbClr val="504C49"/>
                </a:solidFill>
                <a:latin typeface="Source Serif 4" pitchFamily="34" charset="0"/>
                <a:ea typeface="Source Serif 4" pitchFamily="34" charset="-122"/>
                <a:cs typeface="Source Serif 4" pitchFamily="34" charset="-120"/>
              </a:rPr>
              <a:t>SWOT — OPPORTUNITIES</a:t>
            </a:r>
            <a:endParaRPr lang="en-US" sz="700" dirty="0"/>
          </a:p>
        </p:txBody>
      </p:sp>
      <p:sp>
        <p:nvSpPr>
          <p:cNvPr id="4" name="Text 2"/>
          <p:cNvSpPr/>
          <p:nvPr/>
        </p:nvSpPr>
        <p:spPr>
          <a:xfrm>
            <a:off x="3402449" y="1233964"/>
            <a:ext cx="5387697"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Opportunity 1: Peak Season Expansion</a:t>
            </a:r>
            <a:endParaRPr lang="en-US" sz="2200" dirty="0"/>
          </a:p>
        </p:txBody>
      </p:sp>
      <p:sp>
        <p:nvSpPr>
          <p:cNvPr id="5" name="Text 3"/>
          <p:cNvSpPr/>
          <p:nvPr/>
        </p:nvSpPr>
        <p:spPr>
          <a:xfrm>
            <a:off x="3402449" y="1673304"/>
            <a:ext cx="7825502" cy="603647"/>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March–May represents Jim Beam's strongest period, reaching ~12% market share</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Peak season demonstrates proven consumer demand and brand pull</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Targeted promotions and inventory optimization can extend peak window</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Strategic marketing during high-demand periods can deepen market penetration</a:t>
            </a:r>
            <a:endParaRPr lang="en-US" sz="850" dirty="0"/>
          </a:p>
        </p:txBody>
      </p:sp>
      <p:sp>
        <p:nvSpPr>
          <p:cNvPr id="7" name="Text 4"/>
          <p:cNvSpPr/>
          <p:nvPr/>
        </p:nvSpPr>
        <p:spPr>
          <a:xfrm>
            <a:off x="3402449" y="6786562"/>
            <a:ext cx="7825502" cy="408265"/>
          </a:xfrm>
          <a:prstGeom prst="rect">
            <a:avLst/>
          </a:prstGeom>
          <a:noFill/>
          <a:ln/>
        </p:spPr>
        <p:txBody>
          <a:bodyPr wrap="square" lIns="0" tIns="0" rIns="0" bIns="0" rtlCol="0" anchor="t"/>
          <a:lstStyle/>
          <a:p>
            <a:pPr marL="0" indent="0" algn="l">
              <a:lnSpc>
                <a:spcPts val="1050"/>
              </a:lnSpc>
              <a:buNone/>
            </a:pPr>
            <a:r>
              <a:rPr lang="en-US" sz="850" dirty="0">
                <a:solidFill>
                  <a:srgbClr val="504C49"/>
                </a:solidFill>
                <a:latin typeface="Source Serif 4" pitchFamily="34" charset="0"/>
                <a:ea typeface="Source Serif 4" pitchFamily="34" charset="-122"/>
                <a:cs typeface="Source Serif 4" pitchFamily="34" charset="-120"/>
              </a:rPr>
              <a:t>       The column chart illustrates Jim Beam's revenue index across months, clearly showing a strong performance during the March-May peak season. This period demonstrates elevated consumer demand, providing a strategic opportunity for enhanced marketing efforts and extended promotional activities.     </a:t>
            </a:r>
            <a:endParaRPr lang="en-US" sz="850" dirty="0"/>
          </a:p>
        </p:txBody>
      </p:sp>
      <p:graphicFrame>
        <p:nvGraphicFramePr>
          <p:cNvPr id="8" name="Chart 7">
            <a:extLst>
              <a:ext uri="{FF2B5EF4-FFF2-40B4-BE49-F238E27FC236}">
                <a16:creationId xmlns:a16="http://schemas.microsoft.com/office/drawing/2014/main" id="{540335CE-72AA-6A22-0D20-06810EE50D4B}"/>
              </a:ext>
            </a:extLst>
          </p:cNvPr>
          <p:cNvGraphicFramePr>
            <a:graphicFrameLocks/>
          </p:cNvGraphicFramePr>
          <p:nvPr>
            <p:extLst>
              <p:ext uri="{D42A27DB-BD31-4B8C-83A1-F6EECF244321}">
                <p14:modId xmlns:p14="http://schemas.microsoft.com/office/powerpoint/2010/main" val="1508430229"/>
              </p:ext>
            </p:extLst>
          </p:nvPr>
        </p:nvGraphicFramePr>
        <p:xfrm>
          <a:off x="3402448" y="2743199"/>
          <a:ext cx="5677383" cy="3354705"/>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a:extLst>
              <a:ext uri="{FF2B5EF4-FFF2-40B4-BE49-F238E27FC236}">
                <a16:creationId xmlns:a16="http://schemas.microsoft.com/office/drawing/2014/main" id="{B25DC104-D68B-8451-56D5-4F4578383781}"/>
              </a:ext>
            </a:extLst>
          </p:cNvPr>
          <p:cNvSpPr/>
          <p:nvPr/>
        </p:nvSpPr>
        <p:spPr>
          <a:xfrm>
            <a:off x="12788721" y="7508383"/>
            <a:ext cx="1841679" cy="72121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3402449" y="956786"/>
            <a:ext cx="1235750" cy="176689"/>
          </a:xfrm>
          <a:prstGeom prst="roundRect">
            <a:avLst>
              <a:gd name="adj" fmla="val 7703"/>
            </a:avLst>
          </a:prstGeom>
          <a:solidFill>
            <a:srgbClr val="F3E3D8"/>
          </a:solidFill>
          <a:ln/>
        </p:spPr>
        <p:txBody>
          <a:bodyPr/>
          <a:lstStyle/>
          <a:p>
            <a:endParaRPr lang="en-US"/>
          </a:p>
        </p:txBody>
      </p:sp>
      <p:sp>
        <p:nvSpPr>
          <p:cNvPr id="3" name="Text 1"/>
          <p:cNvSpPr/>
          <p:nvPr/>
        </p:nvSpPr>
        <p:spPr>
          <a:xfrm>
            <a:off x="3470434" y="990719"/>
            <a:ext cx="1099780" cy="108823"/>
          </a:xfrm>
          <a:prstGeom prst="rect">
            <a:avLst/>
          </a:prstGeom>
          <a:noFill/>
          <a:ln/>
        </p:spPr>
        <p:txBody>
          <a:bodyPr wrap="none" lIns="0" tIns="0" rIns="0" bIns="0" rtlCol="0" anchor="t"/>
          <a:lstStyle/>
          <a:p>
            <a:pPr marL="0" indent="0" algn="l">
              <a:lnSpc>
                <a:spcPts val="850"/>
              </a:lnSpc>
              <a:buNone/>
            </a:pPr>
            <a:r>
              <a:rPr lang="en-US" sz="700" dirty="0">
                <a:solidFill>
                  <a:srgbClr val="504C49"/>
                </a:solidFill>
                <a:latin typeface="Source Serif 4" pitchFamily="34" charset="0"/>
                <a:ea typeface="Source Serif 4" pitchFamily="34" charset="-122"/>
                <a:cs typeface="Source Serif 4" pitchFamily="34" charset="-120"/>
              </a:rPr>
              <a:t>SWOT — OPPORTUNITIES</a:t>
            </a:r>
            <a:endParaRPr lang="en-US" sz="700" dirty="0"/>
          </a:p>
        </p:txBody>
      </p:sp>
      <p:sp>
        <p:nvSpPr>
          <p:cNvPr id="4" name="Text 2"/>
          <p:cNvSpPr/>
          <p:nvPr/>
        </p:nvSpPr>
        <p:spPr>
          <a:xfrm>
            <a:off x="3402449" y="1156097"/>
            <a:ext cx="7088505"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Opportunity 2: Increase Average Transaction Value</a:t>
            </a:r>
            <a:endParaRPr lang="en-US" sz="2200" dirty="0"/>
          </a:p>
        </p:txBody>
      </p:sp>
      <p:sp>
        <p:nvSpPr>
          <p:cNvPr id="5" name="Text 3"/>
          <p:cNvSpPr/>
          <p:nvPr/>
        </p:nvSpPr>
        <p:spPr>
          <a:xfrm>
            <a:off x="3402449" y="1595438"/>
            <a:ext cx="7825502" cy="759500"/>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Average transaction value = spending per transaction, NOT product shelf price</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This metric fluctuates independently from transaction volume — a key insight</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Independent movement indicates room to increase customer spend per order</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Strategies: premium bundles, curated gift sets, multi-bottle promotions</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Lifting transaction value provides revenue growth without requiring more transactions</a:t>
            </a:r>
            <a:endParaRPr lang="en-US" sz="850" dirty="0"/>
          </a:p>
        </p:txBody>
      </p:sp>
      <p:sp>
        <p:nvSpPr>
          <p:cNvPr id="13" name="Text 8"/>
          <p:cNvSpPr/>
          <p:nvPr/>
        </p:nvSpPr>
        <p:spPr>
          <a:xfrm>
            <a:off x="3402449" y="6864548"/>
            <a:ext cx="7825502" cy="408265"/>
          </a:xfrm>
          <a:prstGeom prst="rect">
            <a:avLst/>
          </a:prstGeom>
          <a:noFill/>
          <a:ln/>
        </p:spPr>
        <p:txBody>
          <a:bodyPr wrap="square" lIns="0" tIns="0" rIns="0" bIns="0" rtlCol="0" anchor="t"/>
          <a:lstStyle/>
          <a:p>
            <a:pPr marL="0" indent="0" algn="l">
              <a:lnSpc>
                <a:spcPts val="1050"/>
              </a:lnSpc>
              <a:buNone/>
            </a:pPr>
            <a:r>
              <a:rPr lang="en-US" sz="850" dirty="0">
                <a:solidFill>
                  <a:srgbClr val="504C49"/>
                </a:solidFill>
                <a:latin typeface="Source Serif 4" pitchFamily="34" charset="0"/>
                <a:ea typeface="Source Serif 4" pitchFamily="34" charset="-122"/>
                <a:cs typeface="Source Serif 4" pitchFamily="34" charset="-120"/>
              </a:rPr>
              <a:t>       This dual-axis chart visually demonstrates the independent fluctuation of transaction volume and average transaction value across months. The distinct movement of each line highlights that increasing customer spend per order (Average Transaction Value) is an opportunity that can be pursued without solely relying on an increase in the number of transactions.     </a:t>
            </a:r>
            <a:endParaRPr lang="en-US" sz="850" dirty="0"/>
          </a:p>
        </p:txBody>
      </p:sp>
      <p:graphicFrame>
        <p:nvGraphicFramePr>
          <p:cNvPr id="14" name="Chart 13">
            <a:extLst>
              <a:ext uri="{FF2B5EF4-FFF2-40B4-BE49-F238E27FC236}">
                <a16:creationId xmlns:a16="http://schemas.microsoft.com/office/drawing/2014/main" id="{4E5B04EA-8F73-DE2B-A462-8DEF67D5C9B7}"/>
              </a:ext>
            </a:extLst>
          </p:cNvPr>
          <p:cNvGraphicFramePr>
            <a:graphicFrameLocks/>
          </p:cNvGraphicFramePr>
          <p:nvPr>
            <p:extLst>
              <p:ext uri="{D42A27DB-BD31-4B8C-83A1-F6EECF244321}">
                <p14:modId xmlns:p14="http://schemas.microsoft.com/office/powerpoint/2010/main" val="1011754587"/>
              </p:ext>
            </p:extLst>
          </p:nvPr>
        </p:nvGraphicFramePr>
        <p:xfrm>
          <a:off x="3402448" y="2743199"/>
          <a:ext cx="6110519" cy="3529263"/>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tangle 14">
            <a:extLst>
              <a:ext uri="{FF2B5EF4-FFF2-40B4-BE49-F238E27FC236}">
                <a16:creationId xmlns:a16="http://schemas.microsoft.com/office/drawing/2014/main" id="{BA0E4E5E-EECA-669B-BFBF-ACC9AB08653C}"/>
              </a:ext>
            </a:extLst>
          </p:cNvPr>
          <p:cNvSpPr/>
          <p:nvPr/>
        </p:nvSpPr>
        <p:spPr>
          <a:xfrm>
            <a:off x="12788721" y="7508383"/>
            <a:ext cx="1841679" cy="72121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3402449" y="1270635"/>
            <a:ext cx="922496" cy="176689"/>
          </a:xfrm>
          <a:prstGeom prst="roundRect">
            <a:avLst>
              <a:gd name="adj" fmla="val 7703"/>
            </a:avLst>
          </a:prstGeom>
          <a:solidFill>
            <a:srgbClr val="F3E3D8"/>
          </a:solidFill>
          <a:ln/>
        </p:spPr>
        <p:txBody>
          <a:bodyPr/>
          <a:lstStyle/>
          <a:p>
            <a:endParaRPr lang="en-US"/>
          </a:p>
        </p:txBody>
      </p:sp>
      <p:sp>
        <p:nvSpPr>
          <p:cNvPr id="3" name="Text 1"/>
          <p:cNvSpPr/>
          <p:nvPr/>
        </p:nvSpPr>
        <p:spPr>
          <a:xfrm>
            <a:off x="3470434" y="1304568"/>
            <a:ext cx="786527" cy="108823"/>
          </a:xfrm>
          <a:prstGeom prst="rect">
            <a:avLst/>
          </a:prstGeom>
          <a:noFill/>
          <a:ln/>
        </p:spPr>
        <p:txBody>
          <a:bodyPr wrap="none" lIns="0" tIns="0" rIns="0" bIns="0" rtlCol="0" anchor="t"/>
          <a:lstStyle/>
          <a:p>
            <a:pPr marL="0" indent="0" algn="l">
              <a:lnSpc>
                <a:spcPts val="850"/>
              </a:lnSpc>
              <a:buNone/>
            </a:pPr>
            <a:r>
              <a:rPr lang="en-US" sz="700" dirty="0">
                <a:solidFill>
                  <a:srgbClr val="504C49"/>
                </a:solidFill>
                <a:latin typeface="Source Serif 4" pitchFamily="34" charset="0"/>
                <a:ea typeface="Source Serif 4" pitchFamily="34" charset="-122"/>
                <a:cs typeface="Source Serif 4" pitchFamily="34" charset="-120"/>
              </a:rPr>
              <a:t>SWOT — THREATS</a:t>
            </a:r>
            <a:endParaRPr lang="en-US" sz="700" dirty="0"/>
          </a:p>
        </p:txBody>
      </p:sp>
      <p:sp>
        <p:nvSpPr>
          <p:cNvPr id="4" name="Text 2"/>
          <p:cNvSpPr/>
          <p:nvPr/>
        </p:nvSpPr>
        <p:spPr>
          <a:xfrm>
            <a:off x="3402449" y="1469946"/>
            <a:ext cx="4897755"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Threat 1: Seasonal Volume Collapse</a:t>
            </a:r>
            <a:endParaRPr lang="en-US" sz="2200" dirty="0"/>
          </a:p>
        </p:txBody>
      </p:sp>
      <p:sp>
        <p:nvSpPr>
          <p:cNvPr id="5" name="Text 3"/>
          <p:cNvSpPr/>
          <p:nvPr/>
        </p:nvSpPr>
        <p:spPr>
          <a:xfrm>
            <a:off x="3402449" y="1909286"/>
            <a:ext cx="7825502" cy="603647"/>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Transaction volume drops ~50% during June–July — a recurring seasonal trough</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December shows severe anomaly requiring investigation (operational or data issue)</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Seasonal collapse directly erodes annual revenue and profitability</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Structural vulnerability suggests need for counter-seasonal strategies</a:t>
            </a:r>
            <a:endParaRPr lang="en-US" sz="850" dirty="0"/>
          </a:p>
        </p:txBody>
      </p:sp>
      <p:graphicFrame>
        <p:nvGraphicFramePr>
          <p:cNvPr id="13" name="Chart 12">
            <a:extLst>
              <a:ext uri="{FF2B5EF4-FFF2-40B4-BE49-F238E27FC236}">
                <a16:creationId xmlns:a16="http://schemas.microsoft.com/office/drawing/2014/main" id="{D4F9A31D-3D0E-32A8-E2CD-73D10D142E38}"/>
              </a:ext>
            </a:extLst>
          </p:cNvPr>
          <p:cNvGraphicFramePr>
            <a:graphicFrameLocks/>
          </p:cNvGraphicFramePr>
          <p:nvPr>
            <p:extLst>
              <p:ext uri="{D42A27DB-BD31-4B8C-83A1-F6EECF244321}">
                <p14:modId xmlns:p14="http://schemas.microsoft.com/office/powerpoint/2010/main" val="2711313530"/>
              </p:ext>
            </p:extLst>
          </p:nvPr>
        </p:nvGraphicFramePr>
        <p:xfrm>
          <a:off x="3280609" y="3368841"/>
          <a:ext cx="5767137" cy="3144253"/>
        </p:xfrm>
        <a:graphic>
          <a:graphicData uri="http://schemas.openxmlformats.org/drawingml/2006/chart">
            <c:chart xmlns:c="http://schemas.openxmlformats.org/drawingml/2006/chart" xmlns:r="http://schemas.openxmlformats.org/officeDocument/2006/relationships" r:id="rId3"/>
          </a:graphicData>
        </a:graphic>
      </p:graphicFrame>
      <p:sp>
        <p:nvSpPr>
          <p:cNvPr id="14" name="Rectangle 13">
            <a:extLst>
              <a:ext uri="{FF2B5EF4-FFF2-40B4-BE49-F238E27FC236}">
                <a16:creationId xmlns:a16="http://schemas.microsoft.com/office/drawing/2014/main" id="{FD41AB90-AA52-4C93-1C22-1AEEF7C8EADA}"/>
              </a:ext>
            </a:extLst>
          </p:cNvPr>
          <p:cNvSpPr/>
          <p:nvPr/>
        </p:nvSpPr>
        <p:spPr>
          <a:xfrm>
            <a:off x="12788721" y="7508383"/>
            <a:ext cx="1841679" cy="72121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3402449" y="1034653"/>
            <a:ext cx="922496" cy="176689"/>
          </a:xfrm>
          <a:prstGeom prst="roundRect">
            <a:avLst>
              <a:gd name="adj" fmla="val 7703"/>
            </a:avLst>
          </a:prstGeom>
          <a:solidFill>
            <a:srgbClr val="F3E3D8"/>
          </a:solidFill>
          <a:ln/>
        </p:spPr>
        <p:txBody>
          <a:bodyPr/>
          <a:lstStyle/>
          <a:p>
            <a:endParaRPr lang="en-US"/>
          </a:p>
        </p:txBody>
      </p:sp>
      <p:sp>
        <p:nvSpPr>
          <p:cNvPr id="3" name="Text 1"/>
          <p:cNvSpPr/>
          <p:nvPr/>
        </p:nvSpPr>
        <p:spPr>
          <a:xfrm>
            <a:off x="3470434" y="1068586"/>
            <a:ext cx="786527" cy="108823"/>
          </a:xfrm>
          <a:prstGeom prst="rect">
            <a:avLst/>
          </a:prstGeom>
          <a:noFill/>
          <a:ln/>
        </p:spPr>
        <p:txBody>
          <a:bodyPr wrap="none" lIns="0" tIns="0" rIns="0" bIns="0" rtlCol="0" anchor="t"/>
          <a:lstStyle/>
          <a:p>
            <a:pPr marL="0" indent="0" algn="l">
              <a:lnSpc>
                <a:spcPts val="850"/>
              </a:lnSpc>
              <a:buNone/>
            </a:pPr>
            <a:r>
              <a:rPr lang="en-US" sz="700" dirty="0">
                <a:solidFill>
                  <a:srgbClr val="504C49"/>
                </a:solidFill>
                <a:latin typeface="Source Serif 4" pitchFamily="34" charset="0"/>
                <a:ea typeface="Source Serif 4" pitchFamily="34" charset="-122"/>
                <a:cs typeface="Source Serif 4" pitchFamily="34" charset="-120"/>
              </a:rPr>
              <a:t>SWOT — THREATS</a:t>
            </a:r>
            <a:endParaRPr lang="en-US" sz="700" dirty="0"/>
          </a:p>
        </p:txBody>
      </p:sp>
      <p:sp>
        <p:nvSpPr>
          <p:cNvPr id="4" name="Text 2"/>
          <p:cNvSpPr/>
          <p:nvPr/>
        </p:nvSpPr>
        <p:spPr>
          <a:xfrm>
            <a:off x="3402449" y="1233964"/>
            <a:ext cx="4514136" cy="354330"/>
          </a:xfrm>
          <a:prstGeom prst="rect">
            <a:avLst/>
          </a:prstGeom>
          <a:noFill/>
          <a:ln/>
        </p:spPr>
        <p:txBody>
          <a:bodyPr wrap="none" lIns="0" tIns="0" rIns="0" bIns="0" rtlCol="0" anchor="t"/>
          <a:lstStyle/>
          <a:p>
            <a:pPr marL="0" indent="0" algn="l">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Threat 2: Volume-Driven Decline</a:t>
            </a:r>
            <a:endParaRPr lang="en-US" sz="2200" dirty="0"/>
          </a:p>
        </p:txBody>
      </p:sp>
      <p:sp>
        <p:nvSpPr>
          <p:cNvPr id="5" name="Text 3"/>
          <p:cNvSpPr/>
          <p:nvPr/>
        </p:nvSpPr>
        <p:spPr>
          <a:xfrm>
            <a:off x="3402449" y="1673304"/>
            <a:ext cx="7825502" cy="603647"/>
          </a:xfrm>
          <a:prstGeom prst="rect">
            <a:avLst/>
          </a:prstGeom>
          <a:noFill/>
          <a:ln/>
        </p:spPr>
        <p:txBody>
          <a:bodyPr wrap="square" lIns="0" tIns="0" rIns="0" bIns="0" rtlCol="0" anchor="t"/>
          <a:lstStyle/>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Revenue decline is driven primarily by transaction volume drops, not pricing pressure</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When fewer customers transact, revenue falls — indicating demand weakness</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Volume-driven model creates vulnerability to market downturns with limited margin protection</a:t>
            </a:r>
            <a:endParaRPr lang="en-US" sz="850" dirty="0"/>
          </a:p>
          <a:p>
            <a:pPr marL="342900" indent="-342900" algn="l">
              <a:lnSpc>
                <a:spcPts val="1050"/>
              </a:lnSpc>
              <a:buSzPct val="100000"/>
              <a:buChar char="•"/>
            </a:pPr>
            <a:r>
              <a:rPr lang="en-US" sz="850" dirty="0">
                <a:solidFill>
                  <a:srgbClr val="504C49"/>
                </a:solidFill>
                <a:latin typeface="Source Serif 4" pitchFamily="34" charset="0"/>
                <a:ea typeface="Source Serif 4" pitchFamily="34" charset="-122"/>
                <a:cs typeface="Source Serif 4" pitchFamily="34" charset="-120"/>
              </a:rPr>
              <a:t>Lack of pricing power or premium positioning leaves Jim Beam exposed to competitive shifts</a:t>
            </a:r>
            <a:endParaRPr lang="en-US" sz="850" dirty="0"/>
          </a:p>
        </p:txBody>
      </p:sp>
      <p:sp>
        <p:nvSpPr>
          <p:cNvPr id="13" name="Text 8"/>
          <p:cNvSpPr/>
          <p:nvPr/>
        </p:nvSpPr>
        <p:spPr>
          <a:xfrm>
            <a:off x="3402449" y="6786562"/>
            <a:ext cx="7825502" cy="408265"/>
          </a:xfrm>
          <a:prstGeom prst="rect">
            <a:avLst/>
          </a:prstGeom>
          <a:noFill/>
          <a:ln/>
        </p:spPr>
        <p:txBody>
          <a:bodyPr wrap="square" lIns="0" tIns="0" rIns="0" bIns="0" rtlCol="0" anchor="t"/>
          <a:lstStyle/>
          <a:p>
            <a:pPr marL="0" indent="0" algn="l">
              <a:lnSpc>
                <a:spcPts val="1050"/>
              </a:lnSpc>
              <a:buNone/>
            </a:pPr>
            <a:r>
              <a:rPr lang="en-US" sz="850" dirty="0">
                <a:solidFill>
                  <a:srgbClr val="504C49"/>
                </a:solidFill>
                <a:latin typeface="Source Serif 4" pitchFamily="34" charset="0"/>
                <a:ea typeface="Source Serif 4" pitchFamily="34" charset="-122"/>
                <a:cs typeface="Source Serif 4" pitchFamily="34" charset="-120"/>
              </a:rPr>
              <a:t>       This dual-axis chart clearly demonstrates the strong correlation between transaction count and revenue. The parallel movement of both lines indicates that the primary driver of revenue decline is a drop in transaction volume, highlighting Jim Beam's vulnerability to market downturns driven by fewer customer transactions.     </a:t>
            </a:r>
            <a:endParaRPr lang="en-US" sz="850" dirty="0"/>
          </a:p>
        </p:txBody>
      </p:sp>
      <p:graphicFrame>
        <p:nvGraphicFramePr>
          <p:cNvPr id="14" name="Chart 13">
            <a:extLst>
              <a:ext uri="{FF2B5EF4-FFF2-40B4-BE49-F238E27FC236}">
                <a16:creationId xmlns:a16="http://schemas.microsoft.com/office/drawing/2014/main" id="{63931A3B-7686-5D0A-5E63-E21CF679D692}"/>
              </a:ext>
            </a:extLst>
          </p:cNvPr>
          <p:cNvGraphicFramePr>
            <a:graphicFrameLocks/>
          </p:cNvGraphicFramePr>
          <p:nvPr>
            <p:extLst>
              <p:ext uri="{D42A27DB-BD31-4B8C-83A1-F6EECF244321}">
                <p14:modId xmlns:p14="http://schemas.microsoft.com/office/powerpoint/2010/main" val="1948790127"/>
              </p:ext>
            </p:extLst>
          </p:nvPr>
        </p:nvGraphicFramePr>
        <p:xfrm>
          <a:off x="3280609" y="2807369"/>
          <a:ext cx="6152149" cy="3705726"/>
        </p:xfrm>
        <a:graphic>
          <a:graphicData uri="http://schemas.openxmlformats.org/drawingml/2006/chart">
            <c:chart xmlns:c="http://schemas.openxmlformats.org/drawingml/2006/chart" xmlns:r="http://schemas.openxmlformats.org/officeDocument/2006/relationships" r:id="rId3"/>
          </a:graphicData>
        </a:graphic>
      </p:graphicFrame>
      <p:sp>
        <p:nvSpPr>
          <p:cNvPr id="15" name="Rectangle 14">
            <a:extLst>
              <a:ext uri="{FF2B5EF4-FFF2-40B4-BE49-F238E27FC236}">
                <a16:creationId xmlns:a16="http://schemas.microsoft.com/office/drawing/2014/main" id="{B4A43E1D-C684-EE17-7F4A-CBCE4FCFFD26}"/>
              </a:ext>
            </a:extLst>
          </p:cNvPr>
          <p:cNvSpPr/>
          <p:nvPr/>
        </p:nvSpPr>
        <p:spPr>
          <a:xfrm>
            <a:off x="12788721" y="7508383"/>
            <a:ext cx="1841679" cy="72121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935123" y="433745"/>
            <a:ext cx="3898583" cy="487204"/>
          </a:xfrm>
          <a:prstGeom prst="rect">
            <a:avLst/>
          </a:prstGeom>
          <a:noFill/>
          <a:ln/>
        </p:spPr>
        <p:txBody>
          <a:bodyPr wrap="none" lIns="0" tIns="0" rIns="0" bIns="0" rtlCol="0" anchor="t"/>
          <a:lstStyle/>
          <a:p>
            <a:pPr marL="0" indent="0" algn="l">
              <a:lnSpc>
                <a:spcPts val="3800"/>
              </a:lnSpc>
              <a:buNone/>
            </a:pPr>
            <a:r>
              <a:rPr lang="en-US" sz="3050" dirty="0">
                <a:solidFill>
                  <a:srgbClr val="201B18"/>
                </a:solidFill>
                <a:latin typeface="Platypi Medium" pitchFamily="34" charset="0"/>
                <a:ea typeface="Platypi Medium" pitchFamily="34" charset="-122"/>
                <a:cs typeface="Platypi Medium" pitchFamily="34" charset="-120"/>
              </a:rPr>
              <a:t>SWOT Summary</a:t>
            </a:r>
            <a:endParaRPr lang="en-US" sz="3050" dirty="0"/>
          </a:p>
        </p:txBody>
      </p:sp>
      <p:pic>
        <p:nvPicPr>
          <p:cNvPr id="3" name="Image 0" descr="preencoded.png"/>
          <p:cNvPicPr>
            <a:picLocks noChangeAspect="1"/>
          </p:cNvPicPr>
          <p:nvPr/>
        </p:nvPicPr>
        <p:blipFill>
          <a:blip r:embed="rId3"/>
          <a:stretch>
            <a:fillRect/>
          </a:stretch>
        </p:blipFill>
        <p:spPr>
          <a:xfrm>
            <a:off x="1935123" y="1202293"/>
            <a:ext cx="5189815" cy="5189815"/>
          </a:xfrm>
          <a:prstGeom prst="rect">
            <a:avLst/>
          </a:prstGeom>
        </p:spPr>
      </p:pic>
      <p:pic>
        <p:nvPicPr>
          <p:cNvPr id="4" name="Image 1" descr="preencoded.png"/>
          <p:cNvPicPr>
            <a:picLocks noChangeAspect="1"/>
          </p:cNvPicPr>
          <p:nvPr/>
        </p:nvPicPr>
        <p:blipFill>
          <a:blip r:embed="rId4"/>
          <a:stretch>
            <a:fillRect/>
          </a:stretch>
        </p:blipFill>
        <p:spPr>
          <a:xfrm>
            <a:off x="1935123" y="1202293"/>
            <a:ext cx="5189815" cy="5189815"/>
          </a:xfrm>
          <a:prstGeom prst="rect">
            <a:avLst/>
          </a:prstGeom>
        </p:spPr>
      </p:pic>
      <p:sp>
        <p:nvSpPr>
          <p:cNvPr id="5" name="Text 1"/>
          <p:cNvSpPr/>
          <p:nvPr/>
        </p:nvSpPr>
        <p:spPr>
          <a:xfrm>
            <a:off x="7512844" y="2920603"/>
            <a:ext cx="2136577" cy="243602"/>
          </a:xfrm>
          <a:prstGeom prst="rect">
            <a:avLst/>
          </a:prstGeom>
          <a:noFill/>
          <a:ln/>
        </p:spPr>
        <p:txBody>
          <a:bodyPr wrap="none" lIns="0" tIns="0" rIns="0" bIns="0" rtlCol="0" anchor="t"/>
          <a:lstStyle/>
          <a:p>
            <a:pPr marL="0" indent="0" algn="l">
              <a:lnSpc>
                <a:spcPts val="1900"/>
              </a:lnSpc>
              <a:buNone/>
            </a:pPr>
            <a:r>
              <a:rPr lang="en-US" sz="1500" dirty="0">
                <a:solidFill>
                  <a:srgbClr val="201B18"/>
                </a:solidFill>
                <a:latin typeface="Platypi Medium" pitchFamily="34" charset="0"/>
                <a:ea typeface="Platypi Medium" pitchFamily="34" charset="-122"/>
                <a:cs typeface="Platypi Medium" pitchFamily="34" charset="-120"/>
              </a:rPr>
              <a:t>From Data to Strategy</a:t>
            </a:r>
            <a:endParaRPr lang="en-US" sz="1500" dirty="0"/>
          </a:p>
        </p:txBody>
      </p:sp>
      <p:sp>
        <p:nvSpPr>
          <p:cNvPr id="6" name="Text 2"/>
          <p:cNvSpPr/>
          <p:nvPr/>
        </p:nvSpPr>
        <p:spPr>
          <a:xfrm>
            <a:off x="7512844" y="3271361"/>
            <a:ext cx="5189815" cy="421005"/>
          </a:xfrm>
          <a:prstGeom prst="rect">
            <a:avLst/>
          </a:prstGeom>
          <a:noFill/>
          <a:ln/>
        </p:spPr>
        <p:txBody>
          <a:bodyPr wrap="square" lIns="0" tIns="0" rIns="0" bIns="0" rtlCol="0" anchor="t"/>
          <a:lstStyle/>
          <a:p>
            <a:pPr marL="0" indent="0" algn="l">
              <a:lnSpc>
                <a:spcPts val="1650"/>
              </a:lnSpc>
              <a:buNone/>
            </a:pPr>
            <a:r>
              <a:rPr lang="en-US" sz="1200" dirty="0">
                <a:solidFill>
                  <a:srgbClr val="504C49"/>
                </a:solidFill>
                <a:latin typeface="Source Serif 4" pitchFamily="34" charset="0"/>
                <a:ea typeface="Source Serif 4" pitchFamily="34" charset="-122"/>
                <a:cs typeface="Source Serif 4" pitchFamily="34" charset="-120"/>
              </a:rPr>
              <a:t>Jim Beam is a </a:t>
            </a:r>
            <a:r>
              <a:rPr lang="en-US" sz="1200" b="1" dirty="0">
                <a:solidFill>
                  <a:srgbClr val="504C49"/>
                </a:solidFill>
                <a:latin typeface="Source Serif 4" pitchFamily="34" charset="0"/>
                <a:ea typeface="Source Serif 4" pitchFamily="34" charset="-122"/>
                <a:cs typeface="Source Serif 4" pitchFamily="34" charset="-120"/>
              </a:rPr>
              <a:t>solid but vulnerable</a:t>
            </a:r>
            <a:r>
              <a:rPr lang="en-US" sz="1200" dirty="0">
                <a:solidFill>
                  <a:srgbClr val="504C49"/>
                </a:solidFill>
                <a:latin typeface="Source Serif 4" pitchFamily="34" charset="0"/>
                <a:ea typeface="Source Serif 4" pitchFamily="34" charset="-122"/>
                <a:cs typeface="Source Serif 4" pitchFamily="34" charset="-120"/>
              </a:rPr>
              <a:t> player — strong brand recognition offset by volume instability and market dependency.</a:t>
            </a:r>
            <a:endParaRPr lang="en-US" sz="1200" dirty="0"/>
          </a:p>
        </p:txBody>
      </p:sp>
      <p:sp>
        <p:nvSpPr>
          <p:cNvPr id="7" name="Text 3"/>
          <p:cNvSpPr/>
          <p:nvPr/>
        </p:nvSpPr>
        <p:spPr>
          <a:xfrm>
            <a:off x="7512844" y="3788807"/>
            <a:ext cx="5189815" cy="954524"/>
          </a:xfrm>
          <a:prstGeom prst="rect">
            <a:avLst/>
          </a:prstGeom>
          <a:noFill/>
          <a:ln/>
        </p:spPr>
        <p:txBody>
          <a:bodyPr wrap="square" lIns="0" tIns="0" rIns="0" bIns="0" rtlCol="0" anchor="t"/>
          <a:lstStyle/>
          <a:p>
            <a:pPr marL="342900" indent="-342900" algn="l">
              <a:lnSpc>
                <a:spcPts val="1650"/>
              </a:lnSpc>
              <a:buSzPct val="100000"/>
              <a:buChar char="•"/>
            </a:pPr>
            <a:r>
              <a:rPr lang="en-US" sz="1200" b="1" dirty="0">
                <a:solidFill>
                  <a:srgbClr val="504C49"/>
                </a:solidFill>
                <a:latin typeface="Source Serif 4" pitchFamily="34" charset="0"/>
                <a:ea typeface="Source Serif 4" pitchFamily="34" charset="-122"/>
                <a:cs typeface="Source Serif 4" pitchFamily="34" charset="-120"/>
              </a:rPr>
              <a:t>Leverage</a:t>
            </a:r>
            <a:r>
              <a:rPr lang="en-US" sz="1200" dirty="0">
                <a:solidFill>
                  <a:srgbClr val="504C49"/>
                </a:solidFill>
                <a:latin typeface="Source Serif 4" pitchFamily="34" charset="0"/>
                <a:ea typeface="Source Serif 4" pitchFamily="34" charset="-122"/>
                <a:cs typeface="Source Serif 4" pitchFamily="34" charset="-120"/>
              </a:rPr>
              <a:t> peak season strength to build momentum</a:t>
            </a:r>
            <a:endParaRPr lang="en-US" sz="1200" dirty="0"/>
          </a:p>
          <a:p>
            <a:pPr marL="342900" indent="-342900" algn="l">
              <a:lnSpc>
                <a:spcPts val="1650"/>
              </a:lnSpc>
              <a:buSzPct val="100000"/>
              <a:buChar char="•"/>
            </a:pPr>
            <a:r>
              <a:rPr lang="en-US" sz="1200" b="1" dirty="0">
                <a:solidFill>
                  <a:srgbClr val="504C49"/>
                </a:solidFill>
                <a:latin typeface="Source Serif 4" pitchFamily="34" charset="0"/>
                <a:ea typeface="Source Serif 4" pitchFamily="34" charset="-122"/>
                <a:cs typeface="Source Serif 4" pitchFamily="34" charset="-120"/>
              </a:rPr>
              <a:t>Stabilize</a:t>
            </a:r>
            <a:r>
              <a:rPr lang="en-US" sz="1200" dirty="0">
                <a:solidFill>
                  <a:srgbClr val="504C49"/>
                </a:solidFill>
                <a:latin typeface="Source Serif 4" pitchFamily="34" charset="0"/>
                <a:ea typeface="Source Serif 4" pitchFamily="34" charset="-122"/>
                <a:cs typeface="Source Serif 4" pitchFamily="34" charset="-120"/>
              </a:rPr>
              <a:t> transaction volume year-round</a:t>
            </a:r>
            <a:endParaRPr lang="en-US" sz="1200" dirty="0"/>
          </a:p>
          <a:p>
            <a:pPr marL="342900" indent="-342900" algn="l">
              <a:lnSpc>
                <a:spcPts val="1650"/>
              </a:lnSpc>
              <a:buSzPct val="100000"/>
              <a:buChar char="•"/>
            </a:pPr>
            <a:r>
              <a:rPr lang="en-US" sz="1200" b="1" dirty="0">
                <a:solidFill>
                  <a:srgbClr val="504C49"/>
                </a:solidFill>
                <a:latin typeface="Source Serif 4" pitchFamily="34" charset="0"/>
                <a:ea typeface="Source Serif 4" pitchFamily="34" charset="-122"/>
                <a:cs typeface="Source Serif 4" pitchFamily="34" charset="-120"/>
              </a:rPr>
              <a:t>Reduce</a:t>
            </a:r>
            <a:r>
              <a:rPr lang="en-US" sz="1200" dirty="0">
                <a:solidFill>
                  <a:srgbClr val="504C49"/>
                </a:solidFill>
                <a:latin typeface="Source Serif 4" pitchFamily="34" charset="0"/>
                <a:ea typeface="Source Serif 4" pitchFamily="34" charset="-122"/>
                <a:cs typeface="Source Serif 4" pitchFamily="34" charset="-120"/>
              </a:rPr>
              <a:t> reliance on overall market demand</a:t>
            </a:r>
            <a:endParaRPr lang="en-US" sz="1200" dirty="0"/>
          </a:p>
          <a:p>
            <a:pPr marL="342900" indent="-342900" algn="l">
              <a:lnSpc>
                <a:spcPts val="1650"/>
              </a:lnSpc>
              <a:buSzPct val="100000"/>
              <a:buChar char="•"/>
            </a:pPr>
            <a:r>
              <a:rPr lang="en-US" sz="1200" b="1" dirty="0">
                <a:solidFill>
                  <a:srgbClr val="504C49"/>
                </a:solidFill>
                <a:latin typeface="Source Serif 4" pitchFamily="34" charset="0"/>
                <a:ea typeface="Source Serif 4" pitchFamily="34" charset="-122"/>
                <a:cs typeface="Source Serif 4" pitchFamily="34" charset="-120"/>
              </a:rPr>
              <a:t>Investigate</a:t>
            </a:r>
            <a:r>
              <a:rPr lang="en-US" sz="1200" dirty="0">
                <a:solidFill>
                  <a:srgbClr val="504C49"/>
                </a:solidFill>
                <a:latin typeface="Source Serif 4" pitchFamily="34" charset="0"/>
                <a:ea typeface="Source Serif 4" pitchFamily="34" charset="-122"/>
                <a:cs typeface="Source Serif 4" pitchFamily="34" charset="-120"/>
              </a:rPr>
              <a:t> December anomaly and summer drop causes</a:t>
            </a:r>
            <a:endParaRPr lang="en-US" sz="1200" dirty="0"/>
          </a:p>
        </p:txBody>
      </p:sp>
      <p:sp>
        <p:nvSpPr>
          <p:cNvPr id="11" name="Rectangle 10">
            <a:extLst>
              <a:ext uri="{FF2B5EF4-FFF2-40B4-BE49-F238E27FC236}">
                <a16:creationId xmlns:a16="http://schemas.microsoft.com/office/drawing/2014/main" id="{6A5006CB-CAD9-0EEB-A1F4-3EF257088299}"/>
              </a:ext>
            </a:extLst>
          </p:cNvPr>
          <p:cNvSpPr/>
          <p:nvPr/>
        </p:nvSpPr>
        <p:spPr>
          <a:xfrm>
            <a:off x="12788721" y="7508383"/>
            <a:ext cx="1841679" cy="72121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758" y="617696"/>
            <a:ext cx="10819090" cy="653415"/>
          </a:xfrm>
          <a:prstGeom prst="rect">
            <a:avLst/>
          </a:prstGeom>
          <a:noFill/>
          <a:ln/>
        </p:spPr>
        <p:txBody>
          <a:bodyPr wrap="none" lIns="0" tIns="0" rIns="0" bIns="0" rtlCol="0" anchor="t"/>
          <a:lstStyle/>
          <a:p>
            <a:pPr marL="0" indent="0" algn="l">
              <a:lnSpc>
                <a:spcPts val="5100"/>
              </a:lnSpc>
              <a:buNone/>
            </a:pPr>
            <a:r>
              <a:rPr lang="en-US" sz="4100" dirty="0">
                <a:solidFill>
                  <a:srgbClr val="201B18"/>
                </a:solidFill>
                <a:latin typeface="Platypi Medium" pitchFamily="34" charset="0"/>
                <a:ea typeface="Platypi Medium" pitchFamily="34" charset="-122"/>
                <a:cs typeface="Platypi Medium" pitchFamily="34" charset="-120"/>
              </a:rPr>
              <a:t>Recommendations: Three Priority Actions</a:t>
            </a:r>
            <a:endParaRPr lang="en-US" sz="4100" dirty="0"/>
          </a:p>
        </p:txBody>
      </p:sp>
      <p:pic>
        <p:nvPicPr>
          <p:cNvPr id="3" name="Image 0" descr="preencoded.png"/>
          <p:cNvPicPr>
            <a:picLocks noChangeAspect="1"/>
          </p:cNvPicPr>
          <p:nvPr/>
        </p:nvPicPr>
        <p:blipFill>
          <a:blip r:embed="rId3"/>
          <a:stretch>
            <a:fillRect/>
          </a:stretch>
        </p:blipFill>
        <p:spPr>
          <a:xfrm>
            <a:off x="731758" y="1656636"/>
            <a:ext cx="4388882" cy="836414"/>
          </a:xfrm>
          <a:prstGeom prst="rect">
            <a:avLst/>
          </a:prstGeom>
        </p:spPr>
      </p:pic>
      <p:sp>
        <p:nvSpPr>
          <p:cNvPr id="4" name="Text 1"/>
          <p:cNvSpPr/>
          <p:nvPr/>
        </p:nvSpPr>
        <p:spPr>
          <a:xfrm>
            <a:off x="940832" y="2685812"/>
            <a:ext cx="3677722" cy="326588"/>
          </a:xfrm>
          <a:prstGeom prst="rect">
            <a:avLst/>
          </a:prstGeom>
          <a:noFill/>
          <a:ln/>
        </p:spPr>
        <p:txBody>
          <a:bodyPr wrap="none" lIns="0" tIns="0" rIns="0" bIns="0" rtlCol="0" anchor="t"/>
          <a:lstStyle/>
          <a:p>
            <a:pPr marL="0" indent="0" algn="l">
              <a:lnSpc>
                <a:spcPts val="2550"/>
              </a:lnSpc>
              <a:buNone/>
            </a:pPr>
            <a:r>
              <a:rPr lang="en-US" sz="2050" dirty="0">
                <a:solidFill>
                  <a:srgbClr val="504C49"/>
                </a:solidFill>
                <a:latin typeface="Platypi Medium" pitchFamily="34" charset="0"/>
                <a:ea typeface="Platypi Medium" pitchFamily="34" charset="-122"/>
                <a:cs typeface="Platypi Medium" pitchFamily="34" charset="-120"/>
              </a:rPr>
              <a:t>Stabilize Volume Year-Round</a:t>
            </a:r>
            <a:endParaRPr lang="en-US" sz="2050" dirty="0"/>
          </a:p>
        </p:txBody>
      </p:sp>
      <p:sp>
        <p:nvSpPr>
          <p:cNvPr id="5" name="Text 2"/>
          <p:cNvSpPr/>
          <p:nvPr/>
        </p:nvSpPr>
        <p:spPr>
          <a:xfrm>
            <a:off x="940832" y="3128010"/>
            <a:ext cx="3970734" cy="1285399"/>
          </a:xfrm>
          <a:prstGeom prst="rect">
            <a:avLst/>
          </a:prstGeom>
          <a:noFill/>
          <a:ln/>
        </p:spPr>
        <p:txBody>
          <a:bodyPr wrap="square" lIns="0" tIns="0" rIns="0" bIns="0" rtlCol="0" anchor="t"/>
          <a:lstStyle/>
          <a:p>
            <a:pPr marL="0" indent="0" algn="l">
              <a:lnSpc>
                <a:spcPts val="2500"/>
              </a:lnSpc>
              <a:buNone/>
            </a:pPr>
            <a:r>
              <a:rPr lang="en-US" sz="1600" dirty="0">
                <a:solidFill>
                  <a:srgbClr val="504C49"/>
                </a:solidFill>
                <a:latin typeface="Source Serif 4" pitchFamily="34" charset="0"/>
                <a:ea typeface="Source Serif 4" pitchFamily="34" charset="-122"/>
                <a:cs typeface="Source Serif 4" pitchFamily="34" charset="-120"/>
              </a:rPr>
              <a:t>Launch summer promotions and investigate the December drop. Diversify channels to reduce seasonal dependency.</a:t>
            </a:r>
            <a:endParaRPr lang="en-US" sz="1600" dirty="0"/>
          </a:p>
        </p:txBody>
      </p:sp>
      <p:pic>
        <p:nvPicPr>
          <p:cNvPr id="6" name="Image 1" descr="preencoded.png"/>
          <p:cNvPicPr>
            <a:picLocks noChangeAspect="1"/>
          </p:cNvPicPr>
          <p:nvPr/>
        </p:nvPicPr>
        <p:blipFill>
          <a:blip r:embed="rId4"/>
          <a:stretch>
            <a:fillRect/>
          </a:stretch>
        </p:blipFill>
        <p:spPr>
          <a:xfrm>
            <a:off x="5120640" y="1656636"/>
            <a:ext cx="4389001" cy="836414"/>
          </a:xfrm>
          <a:prstGeom prst="rect">
            <a:avLst/>
          </a:prstGeom>
        </p:spPr>
      </p:pic>
      <p:sp>
        <p:nvSpPr>
          <p:cNvPr id="7" name="Text 3"/>
          <p:cNvSpPr/>
          <p:nvPr/>
        </p:nvSpPr>
        <p:spPr>
          <a:xfrm>
            <a:off x="5329714" y="2685812"/>
            <a:ext cx="2846546" cy="326588"/>
          </a:xfrm>
          <a:prstGeom prst="rect">
            <a:avLst/>
          </a:prstGeom>
          <a:noFill/>
          <a:ln/>
        </p:spPr>
        <p:txBody>
          <a:bodyPr wrap="none" lIns="0" tIns="0" rIns="0" bIns="0" rtlCol="0" anchor="t"/>
          <a:lstStyle/>
          <a:p>
            <a:pPr marL="0" indent="0" algn="l">
              <a:lnSpc>
                <a:spcPts val="2550"/>
              </a:lnSpc>
              <a:buNone/>
            </a:pPr>
            <a:r>
              <a:rPr lang="en-US" sz="2050" dirty="0">
                <a:solidFill>
                  <a:srgbClr val="504C49"/>
                </a:solidFill>
                <a:latin typeface="Platypi Medium" pitchFamily="34" charset="0"/>
                <a:ea typeface="Platypi Medium" pitchFamily="34" charset="-122"/>
                <a:cs typeface="Platypi Medium" pitchFamily="34" charset="-120"/>
              </a:rPr>
              <a:t>Lift Transaction Value</a:t>
            </a:r>
            <a:endParaRPr lang="en-US" sz="2050" dirty="0"/>
          </a:p>
        </p:txBody>
      </p:sp>
      <p:sp>
        <p:nvSpPr>
          <p:cNvPr id="8" name="Text 4"/>
          <p:cNvSpPr/>
          <p:nvPr/>
        </p:nvSpPr>
        <p:spPr>
          <a:xfrm>
            <a:off x="5329714" y="3128010"/>
            <a:ext cx="3970853" cy="1285399"/>
          </a:xfrm>
          <a:prstGeom prst="rect">
            <a:avLst/>
          </a:prstGeom>
          <a:noFill/>
          <a:ln/>
        </p:spPr>
        <p:txBody>
          <a:bodyPr wrap="square" lIns="0" tIns="0" rIns="0" bIns="0" rtlCol="0" anchor="t"/>
          <a:lstStyle/>
          <a:p>
            <a:pPr marL="0" indent="0" algn="l">
              <a:lnSpc>
                <a:spcPts val="2500"/>
              </a:lnSpc>
              <a:buNone/>
            </a:pPr>
            <a:r>
              <a:rPr lang="en-US" sz="1600" dirty="0">
                <a:solidFill>
                  <a:srgbClr val="504C49"/>
                </a:solidFill>
                <a:latin typeface="Source Serif 4" pitchFamily="34" charset="0"/>
                <a:ea typeface="Source Serif 4" pitchFamily="34" charset="-122"/>
                <a:cs typeface="Source Serif 4" pitchFamily="34" charset="-120"/>
              </a:rPr>
              <a:t>Introduce premium bundles and curated gift sets to increase average spend per order,  independent of volume.</a:t>
            </a:r>
            <a:endParaRPr lang="en-US" sz="1600" dirty="0"/>
          </a:p>
        </p:txBody>
      </p:sp>
      <p:pic>
        <p:nvPicPr>
          <p:cNvPr id="9" name="Image 2" descr="preencoded.png"/>
          <p:cNvPicPr>
            <a:picLocks noChangeAspect="1"/>
          </p:cNvPicPr>
          <p:nvPr/>
        </p:nvPicPr>
        <p:blipFill>
          <a:blip r:embed="rId5"/>
          <a:stretch>
            <a:fillRect/>
          </a:stretch>
        </p:blipFill>
        <p:spPr>
          <a:xfrm>
            <a:off x="9509641" y="1656636"/>
            <a:ext cx="4389001" cy="836414"/>
          </a:xfrm>
          <a:prstGeom prst="rect">
            <a:avLst/>
          </a:prstGeom>
        </p:spPr>
      </p:pic>
      <p:sp>
        <p:nvSpPr>
          <p:cNvPr id="10" name="Text 5"/>
          <p:cNvSpPr/>
          <p:nvPr/>
        </p:nvSpPr>
        <p:spPr>
          <a:xfrm>
            <a:off x="9718715" y="2685812"/>
            <a:ext cx="3480078" cy="326588"/>
          </a:xfrm>
          <a:prstGeom prst="rect">
            <a:avLst/>
          </a:prstGeom>
          <a:noFill/>
          <a:ln/>
        </p:spPr>
        <p:txBody>
          <a:bodyPr wrap="none" lIns="0" tIns="0" rIns="0" bIns="0" rtlCol="0" anchor="t"/>
          <a:lstStyle/>
          <a:p>
            <a:pPr marL="0" indent="0" algn="l">
              <a:lnSpc>
                <a:spcPts val="2550"/>
              </a:lnSpc>
              <a:buNone/>
            </a:pPr>
            <a:r>
              <a:rPr lang="en-US" sz="2050" dirty="0">
                <a:solidFill>
                  <a:srgbClr val="504C49"/>
                </a:solidFill>
                <a:latin typeface="Platypi Medium" pitchFamily="34" charset="0"/>
                <a:ea typeface="Platypi Medium" pitchFamily="34" charset="-122"/>
                <a:cs typeface="Platypi Medium" pitchFamily="34" charset="-120"/>
              </a:rPr>
              <a:t>Build Brand Differentiation</a:t>
            </a:r>
            <a:endParaRPr lang="en-US" sz="2050" dirty="0"/>
          </a:p>
        </p:txBody>
      </p:sp>
      <p:sp>
        <p:nvSpPr>
          <p:cNvPr id="11" name="Text 6"/>
          <p:cNvSpPr/>
          <p:nvPr/>
        </p:nvSpPr>
        <p:spPr>
          <a:xfrm>
            <a:off x="9718715" y="3128010"/>
            <a:ext cx="3970853" cy="964049"/>
          </a:xfrm>
          <a:prstGeom prst="rect">
            <a:avLst/>
          </a:prstGeom>
          <a:noFill/>
          <a:ln/>
        </p:spPr>
        <p:txBody>
          <a:bodyPr wrap="square" lIns="0" tIns="0" rIns="0" bIns="0" rtlCol="0" anchor="t"/>
          <a:lstStyle/>
          <a:p>
            <a:pPr marL="0" indent="0" algn="l">
              <a:lnSpc>
                <a:spcPts val="2500"/>
              </a:lnSpc>
              <a:buNone/>
            </a:pPr>
            <a:r>
              <a:rPr lang="en-US" sz="1600" dirty="0">
                <a:solidFill>
                  <a:srgbClr val="504C49"/>
                </a:solidFill>
                <a:latin typeface="Source Serif 4" pitchFamily="34" charset="0"/>
                <a:ea typeface="Source Serif 4" pitchFamily="34" charset="-122"/>
                <a:cs typeface="Source Serif 4" pitchFamily="34" charset="-120"/>
              </a:rPr>
              <a:t>Reduce market correlation through loyalty programs, exclusive SKUs, and targeted retail partnerships.</a:t>
            </a:r>
            <a:endParaRPr lang="en-US" sz="1600" dirty="0"/>
          </a:p>
        </p:txBody>
      </p:sp>
      <p:sp>
        <p:nvSpPr>
          <p:cNvPr id="15" name="Rectangle 14">
            <a:extLst>
              <a:ext uri="{FF2B5EF4-FFF2-40B4-BE49-F238E27FC236}">
                <a16:creationId xmlns:a16="http://schemas.microsoft.com/office/drawing/2014/main" id="{F60BD30B-BB7E-AD57-B6FA-EFB9CC24650A}"/>
              </a:ext>
            </a:extLst>
          </p:cNvPr>
          <p:cNvSpPr/>
          <p:nvPr/>
        </p:nvSpPr>
        <p:spPr>
          <a:xfrm>
            <a:off x="12788721" y="7508383"/>
            <a:ext cx="1841679" cy="72121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957</Words>
  <Application>Microsoft Macintosh PowerPoint</Application>
  <PresentationFormat>Custom</PresentationFormat>
  <Paragraphs>111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Source Serif 4</vt:lpstr>
      <vt:lpstr>Platypi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ceyhun ugur</cp:lastModifiedBy>
  <cp:revision>4</cp:revision>
  <dcterms:created xsi:type="dcterms:W3CDTF">2026-05-01T12:36:30Z</dcterms:created>
  <dcterms:modified xsi:type="dcterms:W3CDTF">2026-05-01T12:51:27Z</dcterms:modified>
</cp:coreProperties>
</file>